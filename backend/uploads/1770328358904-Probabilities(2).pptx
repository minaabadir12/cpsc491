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8" r:id="rId1"/>
    <p:sldMasterId id="2147483743" r:id="rId2"/>
    <p:sldMasterId id="2147483758" r:id="rId3"/>
    <p:sldMasterId id="2147483770" r:id="rId4"/>
  </p:sldMasterIdLst>
  <p:notesMasterIdLst>
    <p:notesMasterId r:id="rId75"/>
  </p:notesMasterIdLst>
  <p:sldIdLst>
    <p:sldId id="333" r:id="rId5"/>
    <p:sldId id="334" r:id="rId6"/>
    <p:sldId id="1071" r:id="rId7"/>
    <p:sldId id="1037" r:id="rId8"/>
    <p:sldId id="1038" r:id="rId9"/>
    <p:sldId id="1039" r:id="rId10"/>
    <p:sldId id="1041" r:id="rId11"/>
    <p:sldId id="1043" r:id="rId12"/>
    <p:sldId id="1079" r:id="rId13"/>
    <p:sldId id="1045" r:id="rId14"/>
    <p:sldId id="1046" r:id="rId15"/>
    <p:sldId id="1080" r:id="rId16"/>
    <p:sldId id="993" r:id="rId17"/>
    <p:sldId id="992" r:id="rId18"/>
    <p:sldId id="1048" r:id="rId19"/>
    <p:sldId id="1051" r:id="rId20"/>
    <p:sldId id="1052" r:id="rId21"/>
    <p:sldId id="1053" r:id="rId22"/>
    <p:sldId id="1078" r:id="rId23"/>
    <p:sldId id="1049" r:id="rId24"/>
    <p:sldId id="1070" r:id="rId25"/>
    <p:sldId id="1054" r:id="rId26"/>
    <p:sldId id="1060" r:id="rId27"/>
    <p:sldId id="1081" r:id="rId28"/>
    <p:sldId id="1083" r:id="rId29"/>
    <p:sldId id="1061" r:id="rId30"/>
    <p:sldId id="1084" r:id="rId31"/>
    <p:sldId id="1063" r:id="rId32"/>
    <p:sldId id="998" r:id="rId33"/>
    <p:sldId id="999" r:id="rId34"/>
    <p:sldId id="1000" r:id="rId35"/>
    <p:sldId id="1001" r:id="rId36"/>
    <p:sldId id="1002" r:id="rId37"/>
    <p:sldId id="1003" r:id="rId38"/>
    <p:sldId id="1086" r:id="rId39"/>
    <p:sldId id="1076" r:id="rId40"/>
    <p:sldId id="1006" r:id="rId41"/>
    <p:sldId id="1007" r:id="rId42"/>
    <p:sldId id="1008" r:id="rId43"/>
    <p:sldId id="1009" r:id="rId44"/>
    <p:sldId id="1010" r:id="rId45"/>
    <p:sldId id="1085" r:id="rId46"/>
    <p:sldId id="1082" r:id="rId47"/>
    <p:sldId id="1012" r:id="rId48"/>
    <p:sldId id="1013" r:id="rId49"/>
    <p:sldId id="1014" r:id="rId50"/>
    <p:sldId id="1015" r:id="rId51"/>
    <p:sldId id="1016" r:id="rId52"/>
    <p:sldId id="1017" r:id="rId53"/>
    <p:sldId id="1018" r:id="rId54"/>
    <p:sldId id="1077" r:id="rId55"/>
    <p:sldId id="1019" r:id="rId56"/>
    <p:sldId id="1020" r:id="rId57"/>
    <p:sldId id="1021" r:id="rId58"/>
    <p:sldId id="1022" r:id="rId59"/>
    <p:sldId id="1023" r:id="rId60"/>
    <p:sldId id="1024" r:id="rId61"/>
    <p:sldId id="1025" r:id="rId62"/>
    <p:sldId id="1026" r:id="rId63"/>
    <p:sldId id="1027" r:id="rId64"/>
    <p:sldId id="1028" r:id="rId65"/>
    <p:sldId id="1029" r:id="rId66"/>
    <p:sldId id="1030" r:id="rId67"/>
    <p:sldId id="1032" r:id="rId68"/>
    <p:sldId id="1074" r:id="rId69"/>
    <p:sldId id="1073" r:id="rId70"/>
    <p:sldId id="1033" r:id="rId71"/>
    <p:sldId id="1034" r:id="rId72"/>
    <p:sldId id="1035" r:id="rId73"/>
    <p:sldId id="710" r:id="rId74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84521" autoAdjust="0"/>
  </p:normalViewPr>
  <p:slideViewPr>
    <p:cSldViewPr>
      <p:cViewPr varScale="1">
        <p:scale>
          <a:sx n="73" d="100"/>
          <a:sy n="73" d="100"/>
        </p:scale>
        <p:origin x="156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70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Times New Roman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 smtClean="0">
                <a:latin typeface="Times New Roman" charset="0"/>
                <a:cs typeface="Arial" charset="0"/>
              </a:defRPr>
            </a:lvl1pPr>
          </a:lstStyle>
          <a:p>
            <a:pPr>
              <a:defRPr/>
            </a:pPr>
            <a:fld id="{43132B69-9C71-4ECA-BDED-CC34D4C803B7}" type="datetimeFigureOut">
              <a:rPr lang="en-US"/>
              <a:pPr>
                <a:defRPr/>
              </a:pPr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Times New Roman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CD0D88-AB5B-4A17-8D99-82907F6375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142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FA4D9F-7AC5-42F4-AC57-8FDFE9436C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74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A probabilistic model is a joint distribution over a set of random variables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Probabilistic models: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(Random) variables with domains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Joint distributions: say whether outcomes are likely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Normalized: sum to 1.0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Ideally: only certain variables directly interact</a:t>
            </a:r>
          </a:p>
          <a:p>
            <a:endParaRPr lang="en-US" dirty="0"/>
          </a:p>
          <a:p>
            <a:r>
              <a:rPr lang="en-US" dirty="0" err="1"/>
              <a:t>d^n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11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0.2</a:t>
            </a:r>
          </a:p>
          <a:p>
            <a:r>
              <a:rPr lang="en-US" dirty="0"/>
              <a:t>0.5</a:t>
            </a:r>
          </a:p>
          <a:p>
            <a:r>
              <a:rPr lang="en-US" dirty="0"/>
              <a:t>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10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</a:t>
            </a:r>
          </a:p>
          <a:p>
            <a:r>
              <a:rPr lang="en-US" dirty="0"/>
              <a:t>0.5</a:t>
            </a:r>
          </a:p>
          <a:p>
            <a:r>
              <a:rPr lang="en-US" dirty="0"/>
              <a:t>0.6</a:t>
            </a:r>
          </a:p>
          <a:p>
            <a:r>
              <a:rPr lang="en-US" dirty="0"/>
              <a:t>0.4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74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3CCD04-12D1-492C-8BA5-40E8F00207A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646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445669-2F06-4CA1-BDD0-A2080104B10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86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3CCD04-12D1-492C-8BA5-40E8F00207A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290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+x</a:t>
            </a:r>
            <a:r>
              <a:rPr lang="en-US" baseline="0" dirty="0"/>
              <a:t>     0.3/(0.3+0.1)=0.75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-x     0.1/(0.3+0.1)=0.25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26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+x</a:t>
            </a:r>
            <a:r>
              <a:rPr lang="en-US" baseline="0" dirty="0"/>
              <a:t>     0.3/(0.3+0.1)=0.75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-x     0.1/(0.3+0.1)=0.25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8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0.2/(0.2+0.4)= 1/3</a:t>
            </a:r>
          </a:p>
          <a:p>
            <a:r>
              <a:rPr lang="en-US" dirty="0"/>
              <a:t>0.4/(0.2+0.4)=2/3</a:t>
            </a:r>
          </a:p>
          <a:p>
            <a:r>
              <a:rPr lang="en-US" dirty="0"/>
              <a:t>0.3/(0.2+0.3)=0.6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17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Q1</a:t>
            </a:r>
            <a:r>
              <a:rPr lang="en-US" sz="2000" dirty="0"/>
              <a:t>:What is the sample space?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 = {HHH, HHT, HTH, HTT, THH, THT, TTH, TTT}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Q2</a:t>
            </a:r>
            <a:r>
              <a:rPr lang="en-US" sz="2000" dirty="0"/>
              <a:t>: What are the events and the probabilities of each event?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A</a:t>
            </a:r>
            <a:r>
              <a:rPr lang="en-US" sz="1600" dirty="0"/>
              <a:t> = {more heads than tails coming up} and </a:t>
            </a:r>
            <a:r>
              <a:rPr lang="en-US" sz="1600" dirty="0">
                <a:solidFill>
                  <a:srgbClr val="7030A0"/>
                </a:solidFill>
              </a:rPr>
              <a:t>B</a:t>
            </a:r>
            <a:r>
              <a:rPr lang="en-US" sz="1600" dirty="0"/>
              <a:t> = {1</a:t>
            </a:r>
            <a:r>
              <a:rPr lang="en-US" sz="1600" baseline="30000" dirty="0"/>
              <a:t>st</a:t>
            </a:r>
            <a:r>
              <a:rPr lang="en-US" sz="1600" dirty="0"/>
              <a:t> toss is a head}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P(A)</a:t>
            </a:r>
            <a:r>
              <a:rPr lang="en-US" sz="1600" dirty="0"/>
              <a:t> = 4/8, </a:t>
            </a:r>
            <a:r>
              <a:rPr lang="en-US" sz="1600" dirty="0">
                <a:solidFill>
                  <a:srgbClr val="7030A0"/>
                </a:solidFill>
              </a:rPr>
              <a:t>P(B)</a:t>
            </a:r>
            <a:r>
              <a:rPr lang="en-US" sz="1600" dirty="0"/>
              <a:t> = 4/8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Q3</a:t>
            </a:r>
            <a:r>
              <a:rPr lang="en-US" sz="2000" dirty="0"/>
              <a:t>: What are the random variables?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Measurements of interest for any coin tossing event, e.g., </a:t>
            </a:r>
            <a:r>
              <a:rPr lang="en-US" sz="1600" dirty="0">
                <a:solidFill>
                  <a:srgbClr val="7030A0"/>
                </a:solidFill>
              </a:rPr>
              <a:t>A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7030A0"/>
                </a:solidFill>
              </a:rPr>
              <a:t>B</a:t>
            </a:r>
            <a:r>
              <a:rPr lang="en-US" sz="1600" dirty="0"/>
              <a:t>.</a:t>
            </a:r>
            <a:endParaRPr lang="en-US" sz="1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Q4</a:t>
            </a:r>
            <a:r>
              <a:rPr lang="en-US" sz="2000" dirty="0"/>
              <a:t>: What is the conditional probability and how can we compute it?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P(A|B)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7030A0"/>
                </a:solidFill>
              </a:rPr>
              <a:t>P(A∩B)/P(B)</a:t>
            </a:r>
            <a:r>
              <a:rPr lang="en-US" sz="1600" dirty="0"/>
              <a:t> = (3/8)/(4/8) = ¾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Or P(A|B) can be simply calculated by dividing the number of elements for A</a:t>
            </a:r>
            <a:r>
              <a:rPr lang="en-US" sz="1600" dirty="0">
                <a:cs typeface="Arial" charset="0"/>
              </a:rPr>
              <a:t>∩</a:t>
            </a:r>
            <a:r>
              <a:rPr lang="en-US" sz="1600" dirty="0"/>
              <a:t>B by the number of elements for B. 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When the first toss is H.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rest are HH, HT, TH, TT. So 3/4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48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Q1</a:t>
            </a:r>
            <a:r>
              <a:rPr lang="en-US" sz="2000" dirty="0"/>
              <a:t>:What is the sample space?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 = {HHH, HHT, HTH, HTT, THH, THT, TTH, TTT}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Q2</a:t>
            </a:r>
            <a:r>
              <a:rPr lang="en-US" sz="2000" dirty="0"/>
              <a:t>: What are the events and the probabilities of each event?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A</a:t>
            </a:r>
            <a:r>
              <a:rPr lang="en-US" sz="1600" dirty="0"/>
              <a:t> = {more heads than tails coming up} and </a:t>
            </a:r>
            <a:r>
              <a:rPr lang="en-US" sz="1600" dirty="0">
                <a:solidFill>
                  <a:srgbClr val="7030A0"/>
                </a:solidFill>
              </a:rPr>
              <a:t>B</a:t>
            </a:r>
            <a:r>
              <a:rPr lang="en-US" sz="1600" dirty="0"/>
              <a:t> = {1</a:t>
            </a:r>
            <a:r>
              <a:rPr lang="en-US" sz="1600" baseline="30000" dirty="0"/>
              <a:t>st</a:t>
            </a:r>
            <a:r>
              <a:rPr lang="en-US" sz="1600" dirty="0"/>
              <a:t> toss is a head}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P(A)</a:t>
            </a:r>
            <a:r>
              <a:rPr lang="en-US" sz="1600" dirty="0"/>
              <a:t> = 4/8, </a:t>
            </a:r>
            <a:r>
              <a:rPr lang="en-US" sz="1600" dirty="0">
                <a:solidFill>
                  <a:srgbClr val="7030A0"/>
                </a:solidFill>
              </a:rPr>
              <a:t>P(B)</a:t>
            </a:r>
            <a:r>
              <a:rPr lang="en-US" sz="1600" dirty="0"/>
              <a:t> = 4/8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Q3</a:t>
            </a:r>
            <a:r>
              <a:rPr lang="en-US" sz="2000" dirty="0"/>
              <a:t>: What are the random variables?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Measurements of interest for any coin tossing event, e.g., </a:t>
            </a:r>
            <a:r>
              <a:rPr lang="en-US" sz="1600" dirty="0">
                <a:solidFill>
                  <a:srgbClr val="7030A0"/>
                </a:solidFill>
              </a:rPr>
              <a:t>A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7030A0"/>
                </a:solidFill>
              </a:rPr>
              <a:t>B</a:t>
            </a:r>
            <a:r>
              <a:rPr lang="en-US" sz="1600" dirty="0"/>
              <a:t>.</a:t>
            </a:r>
            <a:endParaRPr lang="en-US" sz="1600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Q4</a:t>
            </a:r>
            <a:r>
              <a:rPr lang="en-US" sz="2000" dirty="0"/>
              <a:t>: What is the conditional probability and how can we compute it?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solidFill>
                  <a:srgbClr val="7030A0"/>
                </a:solidFill>
              </a:rPr>
              <a:t>P(A|B)</a:t>
            </a:r>
            <a:r>
              <a:rPr lang="en-US" sz="1600" dirty="0"/>
              <a:t> = </a:t>
            </a:r>
            <a:r>
              <a:rPr lang="en-US" sz="1600" dirty="0">
                <a:solidFill>
                  <a:srgbClr val="7030A0"/>
                </a:solidFill>
              </a:rPr>
              <a:t>P(A∩B)/P(B)</a:t>
            </a:r>
            <a:r>
              <a:rPr lang="en-US" sz="1600" dirty="0"/>
              <a:t> = (3/8)/(4/8) = ¾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Or P(A|B) can be simply calculated by dividing the number of elements for A</a:t>
            </a:r>
            <a:r>
              <a:rPr lang="en-US" sz="1600" dirty="0">
                <a:cs typeface="Arial" charset="0"/>
              </a:rPr>
              <a:t>∩</a:t>
            </a:r>
            <a:r>
              <a:rPr lang="en-US" sz="1600" dirty="0"/>
              <a:t>B by the number of elements for B. 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When the first toss is H.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rest are HH, HT, TH, TT. So 3/4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97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FA4D9F-7AC5-42F4-AC57-8FDFE9436C6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06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783FA9-CEE1-4C91-AF6C-AF71717E31FE}" type="slidenum">
              <a:rPr lang="en-GB"/>
              <a:pPr/>
              <a:t>27</a:t>
            </a:fld>
            <a:endParaRPr lang="en-GB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pPr eaLnBrk="1" hangingPunct="1"/>
                <a:r>
                  <a:rPr lang="en-US" dirty="0"/>
                  <a:t>P(</a:t>
                </a:r>
                <a:r>
                  <a:rPr lang="en-US" dirty="0" err="1"/>
                  <a:t>s|d</a:t>
                </a:r>
                <a:r>
                  <a:rPr lang="en-US" dirty="0"/>
                  <a:t>): via</a:t>
                </a:r>
                <a:r>
                  <a:rPr lang="en-US" baseline="0" dirty="0"/>
                  <a:t> medical tests and observation</a:t>
                </a:r>
              </a:p>
              <a:p>
                <a:pPr eaLnBrk="1" hangingPunct="1"/>
                <a:r>
                  <a:rPr lang="en-US" baseline="0" dirty="0"/>
                  <a:t>Example: common cold and fever; running nose, cough, ear </a:t>
                </a:r>
                <a:r>
                  <a:rPr lang="en-US" baseline="0" dirty="0" err="1"/>
                  <a:t>infe</a:t>
                </a:r>
                <a:endParaRPr lang="en-US" baseline="0" dirty="0"/>
              </a:p>
              <a:p>
                <a:pPr eaLnBrk="1" hangingPunct="1"/>
                <a:r>
                  <a:rPr lang="en-US" sz="1200" dirty="0"/>
                  <a:t>So we can change </a:t>
                </a:r>
                <a:r>
                  <a:rPr lang="en-GB" sz="1200" dirty="0"/>
                  <a:t>the calculations of </a:t>
                </a:r>
                <a:r>
                  <a:rPr lang="en-GB" sz="1200" dirty="0">
                    <a:solidFill>
                      <a:srgbClr val="7030A0"/>
                    </a:solidFill>
                  </a:rPr>
                  <a:t>p(</a:t>
                </a:r>
                <a:r>
                  <a:rPr lang="en-GB" sz="1200" dirty="0" err="1">
                    <a:solidFill>
                      <a:srgbClr val="7030A0"/>
                    </a:solidFill>
                  </a:rPr>
                  <a:t>d</a:t>
                </a:r>
                <a:r>
                  <a:rPr lang="en-GB" sz="1200" dirty="0" err="1">
                    <a:solidFill>
                      <a:srgbClr val="7030A0"/>
                    </a:solidFill>
                    <a:cs typeface="Times New Roman" pitchFamily="31" charset="0"/>
                  </a:rPr>
                  <a:t>|s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)</a:t>
                </a:r>
                <a:r>
                  <a:rPr lang="en-GB" sz="1200" dirty="0">
                    <a:cs typeface="Times New Roman" pitchFamily="31" charset="0"/>
                  </a:rPr>
                  <a:t> as a function of 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p(</a:t>
                </a:r>
                <a:r>
                  <a:rPr lang="en-GB" sz="1200" dirty="0" err="1">
                    <a:solidFill>
                      <a:srgbClr val="7030A0"/>
                    </a:solidFill>
                    <a:cs typeface="Times New Roman" pitchFamily="31" charset="0"/>
                  </a:rPr>
                  <a:t>s|d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)</a:t>
                </a:r>
                <a:r>
                  <a:rPr lang="en-GB" sz="1200" dirty="0">
                    <a:solidFill>
                      <a:srgbClr val="0070C0"/>
                    </a:solidFill>
                    <a:cs typeface="Times New Roman" pitchFamily="31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𝒅</m:t>
                        </m:r>
                      </m:e>
                      <m:e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𝒔</m:t>
                        </m:r>
                      </m:e>
                    </m:d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𝒑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e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𝒅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𝒑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𝒅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𝒑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baseline="0" dirty="0" err="1"/>
                  <a:t>ction</a:t>
                </a:r>
                <a:endParaRPr lang="en-US" dirty="0"/>
              </a:p>
            </p:txBody>
          </p:sp>
        </mc:Choice>
        <mc:Fallback xmlns="">
          <p:sp>
            <p:nvSpPr>
              <p:cNvPr id="3994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pPr eaLnBrk="1" hangingPunct="1"/>
                <a:r>
                  <a:rPr lang="en-US" dirty="0"/>
                  <a:t>P(</a:t>
                </a:r>
                <a:r>
                  <a:rPr lang="en-US" dirty="0" err="1"/>
                  <a:t>s|d</a:t>
                </a:r>
                <a:r>
                  <a:rPr lang="en-US" dirty="0"/>
                  <a:t>): via</a:t>
                </a:r>
                <a:r>
                  <a:rPr lang="en-US" baseline="0" dirty="0"/>
                  <a:t> medical tests and observation</a:t>
                </a:r>
              </a:p>
              <a:p>
                <a:pPr eaLnBrk="1" hangingPunct="1"/>
                <a:r>
                  <a:rPr lang="en-US" baseline="0" dirty="0"/>
                  <a:t>Example: common cold and fever; running nose, cough, ear </a:t>
                </a:r>
                <a:r>
                  <a:rPr lang="en-US" baseline="0" dirty="0" err="1" smtClean="0"/>
                  <a:t>infe</a:t>
                </a:r>
                <a:endParaRPr lang="en-US" baseline="0" dirty="0" smtClean="0"/>
              </a:p>
              <a:p>
                <a:pPr eaLnBrk="1" hangingPunct="1"/>
                <a:r>
                  <a:rPr lang="en-US" sz="1200" dirty="0" smtClean="0"/>
                  <a:t>So we can change </a:t>
                </a:r>
                <a:r>
                  <a:rPr lang="en-GB" sz="1200" dirty="0"/>
                  <a:t>the calculations of </a:t>
                </a:r>
                <a:r>
                  <a:rPr lang="en-GB" sz="1200" dirty="0">
                    <a:solidFill>
                      <a:srgbClr val="7030A0"/>
                    </a:solidFill>
                  </a:rPr>
                  <a:t>p(</a:t>
                </a:r>
                <a:r>
                  <a:rPr lang="en-GB" sz="1200" dirty="0" err="1">
                    <a:solidFill>
                      <a:srgbClr val="7030A0"/>
                    </a:solidFill>
                  </a:rPr>
                  <a:t>d</a:t>
                </a:r>
                <a:r>
                  <a:rPr lang="en-GB" sz="1200" dirty="0" err="1">
                    <a:solidFill>
                      <a:srgbClr val="7030A0"/>
                    </a:solidFill>
                    <a:cs typeface="Times New Roman" pitchFamily="31" charset="0"/>
                  </a:rPr>
                  <a:t>|s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)</a:t>
                </a:r>
                <a:r>
                  <a:rPr lang="en-GB" sz="1200" dirty="0">
                    <a:cs typeface="Times New Roman" pitchFamily="31" charset="0"/>
                  </a:rPr>
                  <a:t> as a function of 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p(</a:t>
                </a:r>
                <a:r>
                  <a:rPr lang="en-GB" sz="1200" dirty="0" err="1">
                    <a:solidFill>
                      <a:srgbClr val="7030A0"/>
                    </a:solidFill>
                    <a:cs typeface="Times New Roman" pitchFamily="31" charset="0"/>
                  </a:rPr>
                  <a:t>s|d</a:t>
                </a:r>
                <a:r>
                  <a:rPr lang="en-GB" sz="1200" dirty="0">
                    <a:solidFill>
                      <a:srgbClr val="7030A0"/>
                    </a:solidFill>
                    <a:cs typeface="Times New Roman" pitchFamily="31" charset="0"/>
                  </a:rPr>
                  <a:t>)</a:t>
                </a:r>
                <a:r>
                  <a:rPr lang="en-GB" sz="1200" dirty="0">
                    <a:solidFill>
                      <a:srgbClr val="0070C0"/>
                    </a:solidFill>
                    <a:cs typeface="Times New Roman" pitchFamily="31" charset="0"/>
                  </a:rPr>
                  <a:t>, 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𝒑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𝒅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│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𝒔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=  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𝒑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𝒔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│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𝒅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𝒑(𝒅)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)/(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/>
                  </a:rPr>
                  <a:t>𝒑(𝒔)</a:t>
                </a:r>
                <a:r>
                  <a:rPr lang="en-US" b="1" i="0" smtClean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en-US" baseline="0" dirty="0" err="1" smtClean="0"/>
                  <a:t>ction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06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E58C9-17CC-46A3-9DA2-B7EF30A292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801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800DA-D05F-421B-983D-2BEA147FE92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744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800DA-D05F-421B-983D-2BEA147FE92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676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5BC3D6-A0B5-4641-AB18-C093BD62BD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686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E58C9-17CC-46A3-9DA2-B7EF30A292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402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969599-B8A2-42AD-9F29-B44667E0D1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42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E817DE-4078-426E-8023-E58F7BCC94A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0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48DB39-9739-41D9-9A51-65F7915A600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23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825004-FA77-47E3-85C0-5B6542999D9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06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DE0C64-D267-4B20-BB48-C0CDB2F43CE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94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2C0ABD-B1B2-4B74-85E6-DDA35015872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00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DA3B81-7573-4E26-A52A-566EBCC79C8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6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BD114D-8AF6-4C16-9D37-38B8F7A7266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43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8D5359-C19D-4270-B2D7-8642F5C1B16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85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B5FB0-247E-41F9-AD87-1041688E9A8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83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853D80-2348-4BF9-8718-8C6A7E1A588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58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AACD65-5B8C-4EFC-95A4-3CDADBE66BB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96950-646D-4C61-ACE5-9A561975C4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941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EDBB-49FB-4370-B28E-5E5A13DB90A2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23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32602-89DB-4D2A-88FB-C780CE1A136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93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E8565-CC81-4DB4-9306-852BF97CF93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4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4C42-5050-417C-B8C6-585AF324C031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46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98FAB-53A5-40F4-B69E-9DD5770B5DD2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43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2E91D-64AE-406D-AC42-8F4F59BE26C6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964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A006-B3E8-4742-AA74-05FEEF2675B7}" type="datetime1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58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3AC9-834C-4618-A072-82286082DE24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5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160F0-B203-417E-AC26-BB1F017A87ED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73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2ED0-6858-4913-84C5-C880673587C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95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71F7-8E47-4E20-AE78-DD1FBC93C121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95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908C94D-950A-41A3-9BC5-6D228083C0C5}" type="datetime1">
              <a:rPr lang="en-US" altLang="en-US" smtClean="0"/>
              <a:t>10/9/2025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2AC62C-E58B-415C-BA25-2625C8EEDD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069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709D63-228C-4EFE-80E9-73A49896AE4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645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DC184F-3CFE-4F41-8727-00E765AAF94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40333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E5FDBC-417F-44FC-BEF2-46FC14D4BCB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18434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24C880-50DA-4861-89D8-BBEA159426C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45525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96776D-A485-4702-8D35-E592A9F8C03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669017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9D0A1-F477-4B08-A04A-34171A84192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6220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4088BC-4F1C-4623-831B-A673FF9AF10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37707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E1F7E-BFA3-4DF1-9028-A69C270E5D3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94251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1E1D5-D3FB-4712-A2AD-A0F9698C794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34790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7C393-9AB1-4823-A32B-D11DDE80568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1254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2DD21-C6B4-47F7-BF5A-3CA4AD99429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6742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46B28-B970-42BC-A10B-B37BB494A9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1455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46AA9-6681-4D83-858B-B56504F6A5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6646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B91DD-A4FB-4938-95D1-5805993407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6045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A3870-FB5F-429C-8984-EBA2F36CB6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9102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66539-31B9-4105-A6EA-5D5C1EF89A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02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33732-A555-4403-A201-326CFA396F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1878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F5ABB-B206-4AA3-B6C7-B866CE29D9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4249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4B1C0-5C39-4D76-99AA-9D4480EDC0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8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7C748-6831-434B-ADA0-322F5A0430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9130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D958B-BDB8-4C4E-BC6C-CFA323FF46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0454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A9A3E-9651-472B-B5BD-C23FAB8FC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66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AF4E2B-2192-4B67-91D2-F4302F18905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10/9/2025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84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6FD46-EB9A-4A7B-99DF-EF7703BB751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FC74C-1AAD-4A23-8CBA-CF1A3849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0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7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E820A92-DFD5-446D-A0F8-864B1163FA8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567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31" charset="-128"/>
          <a:cs typeface="ＭＳ Ｐゴシック" pitchFamily="3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  <a:ea typeface="ＭＳ Ｐゴシック" pitchFamily="31" charset="-128"/>
          <a:cs typeface="ＭＳ Ｐゴシック" pitchFamily="3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  <a:ea typeface="ＭＳ Ｐゴシック" pitchFamily="31" charset="-128"/>
          <a:cs typeface="ＭＳ Ｐゴシック" pitchFamily="3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  <a:ea typeface="ＭＳ Ｐゴシック" pitchFamily="31" charset="-128"/>
          <a:cs typeface="ＭＳ Ｐゴシック" pitchFamily="3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  <a:ea typeface="ＭＳ Ｐゴシック" pitchFamily="31" charset="-128"/>
          <a:cs typeface="ＭＳ Ｐゴシック" pitchFamily="3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3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31" charset="-128"/>
          <a:cs typeface="ＭＳ Ｐゴシック" pitchFamily="3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3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3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249B2A4F-7E40-4CD5-8A61-1DD035003A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649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8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6.png"/><Relationship Id="rId5" Type="http://schemas.openxmlformats.org/officeDocument/2006/relationships/tags" Target="../tags/tag10.xml"/><Relationship Id="rId10" Type="http://schemas.openxmlformats.org/officeDocument/2006/relationships/image" Target="../media/image15.png"/><Relationship Id="rId4" Type="http://schemas.openxmlformats.org/officeDocument/2006/relationships/tags" Target="../tags/tag9.xml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6.xml"/><Relationship Id="rId7" Type="http://schemas.openxmlformats.org/officeDocument/2006/relationships/image" Target="../media/image8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10" Type="http://schemas.openxmlformats.org/officeDocument/2006/relationships/image" Target="../media/image28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26.png"/><Relationship Id="rId18" Type="http://schemas.openxmlformats.org/officeDocument/2006/relationships/image" Target="../media/image33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19.png"/><Relationship Id="rId17" Type="http://schemas.openxmlformats.org/officeDocument/2006/relationships/image" Target="../media/image32.png"/><Relationship Id="rId2" Type="http://schemas.openxmlformats.org/officeDocument/2006/relationships/tags" Target="../tags/tag18.xml"/><Relationship Id="rId16" Type="http://schemas.openxmlformats.org/officeDocument/2006/relationships/image" Target="../media/image31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25.png"/><Relationship Id="rId5" Type="http://schemas.openxmlformats.org/officeDocument/2006/relationships/tags" Target="../tags/tag21.xml"/><Relationship Id="rId15" Type="http://schemas.openxmlformats.org/officeDocument/2006/relationships/image" Target="../media/image30.png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34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image" Target="../media/image36.png"/><Relationship Id="rId18" Type="http://schemas.openxmlformats.org/officeDocument/2006/relationships/image" Target="../media/image40.png"/><Relationship Id="rId3" Type="http://schemas.openxmlformats.org/officeDocument/2006/relationships/tags" Target="../tags/tag28.xml"/><Relationship Id="rId21" Type="http://schemas.openxmlformats.org/officeDocument/2006/relationships/image" Target="../media/image43.png"/><Relationship Id="rId7" Type="http://schemas.openxmlformats.org/officeDocument/2006/relationships/tags" Target="../tags/tag32.xml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tags" Target="../tags/tag27.xml"/><Relationship Id="rId16" Type="http://schemas.openxmlformats.org/officeDocument/2006/relationships/image" Target="../media/image19.png"/><Relationship Id="rId20" Type="http://schemas.openxmlformats.org/officeDocument/2006/relationships/image" Target="../media/image42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slideLayout" Target="../slideLayouts/slideLayout26.xml"/><Relationship Id="rId5" Type="http://schemas.openxmlformats.org/officeDocument/2006/relationships/tags" Target="../tags/tag30.xml"/><Relationship Id="rId15" Type="http://schemas.openxmlformats.org/officeDocument/2006/relationships/image" Target="../media/image38.png"/><Relationship Id="rId10" Type="http://schemas.openxmlformats.org/officeDocument/2006/relationships/tags" Target="../tags/tag35.xml"/><Relationship Id="rId19" Type="http://schemas.openxmlformats.org/officeDocument/2006/relationships/image" Target="../media/image41.pn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38.xml"/><Relationship Id="rId7" Type="http://schemas.openxmlformats.org/officeDocument/2006/relationships/image" Target="../media/image43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39.xml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40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41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44.xml"/><Relationship Id="rId7" Type="http://schemas.openxmlformats.org/officeDocument/2006/relationships/image" Target="../media/image51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50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53.jpeg"/><Relationship Id="rId4" Type="http://schemas.openxmlformats.org/officeDocument/2006/relationships/slideLayout" Target="../slideLayouts/slideLayout26.xml"/><Relationship Id="rId9" Type="http://schemas.openxmlformats.org/officeDocument/2006/relationships/hyperlink" Target="http://en.wikipedia.org/wiki/Image:Thomasbayes.jp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61.jpeg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11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630.png"/><Relationship Id="rId4" Type="http://schemas.openxmlformats.org/officeDocument/2006/relationships/image" Target="../media/image540.png"/><Relationship Id="rId9" Type="http://schemas.openxmlformats.org/officeDocument/2006/relationships/image" Target="../media/image62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mailto:aj6xfdou7@yahoo.com" TargetMode="Externa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9.xml"/><Relationship Id="rId4" Type="http://schemas.openxmlformats.org/officeDocument/2006/relationships/hyperlink" Target="mailto:ddlewis4@att.net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CPSC 481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Anand </a:t>
            </a:r>
            <a:r>
              <a:rPr lang="en-US" dirty="0" err="1"/>
              <a:t>Panangadan</a:t>
            </a:r>
            <a:endParaRPr lang="en-US" dirty="0"/>
          </a:p>
          <a:p>
            <a:r>
              <a:rPr lang="en-US" dirty="0"/>
              <a:t>apanangadan@fullerton.edu</a:t>
            </a:r>
          </a:p>
        </p:txBody>
      </p:sp>
    </p:spTree>
    <p:extLst>
      <p:ext uri="{BB962C8B-B14F-4D97-AF65-F5344CB8AC3E}">
        <p14:creationId xmlns:p14="http://schemas.microsoft.com/office/powerpoint/2010/main" val="177117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What we will cover today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Reasoning with uncertainty</a:t>
            </a:r>
          </a:p>
          <a:p>
            <a:pPr lvl="1">
              <a:defRPr/>
            </a:pPr>
            <a:r>
              <a:rPr lang="en-US" dirty="0"/>
              <a:t>Probability</a:t>
            </a:r>
          </a:p>
          <a:p>
            <a:pPr lvl="1">
              <a:defRPr/>
            </a:pPr>
            <a:r>
              <a:rPr lang="en-US" dirty="0"/>
              <a:t>Conditional probability</a:t>
            </a:r>
          </a:p>
          <a:p>
            <a:pPr lvl="1">
              <a:defRPr/>
            </a:pPr>
            <a:r>
              <a:rPr lang="en-US" dirty="0"/>
              <a:t>Bayes rule</a:t>
            </a:r>
          </a:p>
          <a:p>
            <a:pPr lvl="1">
              <a:defRPr/>
            </a:pPr>
            <a:r>
              <a:rPr lang="en-US" dirty="0"/>
              <a:t>Naïve Bayes classifier</a:t>
            </a:r>
          </a:p>
          <a:p>
            <a:pPr marL="457200" lvl="1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8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with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Medical diagnosis</a:t>
            </a:r>
          </a:p>
          <a:p>
            <a:pPr lvl="1"/>
            <a:r>
              <a:rPr lang="en-US" sz="1600" dirty="0"/>
              <a:t>Not always an obvious cause/effect relationship between the symptoms presented by the patient and the causes of these symptoms</a:t>
            </a:r>
          </a:p>
          <a:p>
            <a:pPr lvl="1"/>
            <a:r>
              <a:rPr lang="en-US" sz="1600" dirty="0"/>
              <a:t>The same sets of symptoms from multiple causes</a:t>
            </a:r>
          </a:p>
          <a:p>
            <a:r>
              <a:rPr lang="en-US" sz="2000" dirty="0"/>
              <a:t>Natural language understanding</a:t>
            </a:r>
          </a:p>
          <a:p>
            <a:pPr lvl="1"/>
            <a:r>
              <a:rPr lang="en-US" sz="1600" dirty="0"/>
              <a:t>A word can have multiple meanings</a:t>
            </a:r>
          </a:p>
          <a:p>
            <a:pPr lvl="1"/>
            <a:r>
              <a:rPr lang="en-US" sz="1600" dirty="0"/>
              <a:t>Meaning becomes clearer when we look at multiple words</a:t>
            </a:r>
          </a:p>
          <a:p>
            <a:r>
              <a:rPr lang="en-US" sz="2000" dirty="0"/>
              <a:t>Planning</a:t>
            </a:r>
          </a:p>
          <a:p>
            <a:pPr lvl="1"/>
            <a:r>
              <a:rPr lang="en-US" sz="1600" dirty="0"/>
              <a:t>When an agent forms a plan (e.g., a vacation trip by car), often no deterministic sequence of operations is guaranteed to succeed</a:t>
            </a:r>
          </a:p>
          <a:p>
            <a:pPr lvl="1"/>
            <a:r>
              <a:rPr lang="en-US" sz="1600" dirty="0"/>
              <a:t>Car can break down, a hotel is fully booked even though a reservation was made, …</a:t>
            </a:r>
          </a:p>
          <a:p>
            <a:r>
              <a:rPr lang="en-US" sz="2000" dirty="0"/>
              <a:t>Learning</a:t>
            </a:r>
          </a:p>
          <a:p>
            <a:pPr lvl="1"/>
            <a:r>
              <a:rPr lang="en-US" sz="1600" dirty="0"/>
              <a:t>Gaining knowledge about the world is getting more certain about what to expect</a:t>
            </a:r>
          </a:p>
        </p:txBody>
      </p:sp>
    </p:spTree>
    <p:extLst>
      <p:ext uri="{BB962C8B-B14F-4D97-AF65-F5344CB8AC3E}">
        <p14:creationId xmlns:p14="http://schemas.microsoft.com/office/powerpoint/2010/main" val="39460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Uncertainty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67056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General situation: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lvl="1" eaLnBrk="1" hangingPunct="1">
              <a:lnSpc>
                <a:spcPct val="80000"/>
              </a:lnSpc>
            </a:pPr>
            <a:r>
              <a:rPr lang="en-US" sz="1800" b="1" dirty="0"/>
              <a:t>Observed variables (evidence/fact)</a:t>
            </a:r>
            <a:r>
              <a:rPr lang="en-US" sz="1800" dirty="0"/>
              <a:t>: Agent knows </a:t>
            </a:r>
            <a:r>
              <a:rPr lang="en-US" sz="1800" b="1" dirty="0">
                <a:solidFill>
                  <a:srgbClr val="FF0000"/>
                </a:solidFill>
              </a:rPr>
              <a:t>certain</a:t>
            </a:r>
            <a:r>
              <a:rPr lang="en-US" sz="1800" dirty="0"/>
              <a:t> things about the state of the world (e.g., symptoms or today’s weather)</a:t>
            </a:r>
          </a:p>
          <a:p>
            <a:pPr lvl="4">
              <a:lnSpc>
                <a:spcPct val="80000"/>
              </a:lnSpc>
            </a:pPr>
            <a:endParaRPr lang="en-US" sz="1050" dirty="0"/>
          </a:p>
          <a:p>
            <a:pPr lvl="1" eaLnBrk="1" hangingPunct="1">
              <a:lnSpc>
                <a:spcPct val="80000"/>
              </a:lnSpc>
            </a:pPr>
            <a:r>
              <a:rPr lang="en-US" sz="1800" b="1" dirty="0"/>
              <a:t>Unobserved variables</a:t>
            </a:r>
            <a:r>
              <a:rPr lang="en-US" sz="1800" dirty="0"/>
              <a:t>: Agent needs to </a:t>
            </a:r>
            <a:r>
              <a:rPr lang="en-US" sz="1800" b="1" dirty="0">
                <a:solidFill>
                  <a:srgbClr val="FF0000"/>
                </a:solidFill>
              </a:rPr>
              <a:t>reason </a:t>
            </a:r>
            <a:r>
              <a:rPr lang="en-US" sz="1800" dirty="0"/>
              <a:t>about </a:t>
            </a:r>
            <a:r>
              <a:rPr lang="en-US" sz="1800" b="1" dirty="0">
                <a:solidFill>
                  <a:srgbClr val="FF0000"/>
                </a:solidFill>
              </a:rPr>
              <a:t>other</a:t>
            </a:r>
            <a:r>
              <a:rPr lang="en-US" sz="1800" dirty="0"/>
              <a:t> aspects (e.g. what disease is present or tomorrow’s weather)</a:t>
            </a:r>
          </a:p>
          <a:p>
            <a:pPr lvl="4">
              <a:lnSpc>
                <a:spcPct val="80000"/>
              </a:lnSpc>
            </a:pPr>
            <a:endParaRPr lang="en-US" sz="1050" dirty="0"/>
          </a:p>
          <a:p>
            <a:pPr lvl="1" eaLnBrk="1" hangingPunct="1">
              <a:lnSpc>
                <a:spcPct val="80000"/>
              </a:lnSpc>
            </a:pPr>
            <a:r>
              <a:rPr lang="en-US" sz="1800" b="1" dirty="0"/>
              <a:t>Model</a:t>
            </a:r>
            <a:r>
              <a:rPr lang="en-US" sz="1800" dirty="0"/>
              <a:t>: Agent knows </a:t>
            </a:r>
            <a:r>
              <a:rPr lang="en-US" sz="1800" b="1" dirty="0">
                <a:solidFill>
                  <a:srgbClr val="FF0000"/>
                </a:solidFill>
              </a:rPr>
              <a:t>something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about how the known variables </a:t>
            </a:r>
            <a:r>
              <a:rPr lang="en-US" sz="1800" b="1" dirty="0">
                <a:solidFill>
                  <a:srgbClr val="FF0000"/>
                </a:solidFill>
              </a:rPr>
              <a:t>relate</a:t>
            </a:r>
            <a:r>
              <a:rPr lang="en-US" sz="1800" dirty="0"/>
              <a:t> to the unknown variables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 lvl="6">
              <a:lnSpc>
                <a:spcPct val="80000"/>
              </a:lnSpc>
            </a:pPr>
            <a:endParaRPr lang="en-US" sz="105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Probabilistic reasoning gives us a framework for managing our beliefs and knowledge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7160418" y="1821507"/>
          <a:ext cx="1221581" cy="1221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2430476" imgH="2430476" progId="MSPhotoEd.3">
                  <p:embed/>
                </p:oleObj>
              </mc:Choice>
              <mc:Fallback>
                <p:oleObj name="Photo Editor Photo" r:id="rId3" imgW="2430476" imgH="2430476" progId="MSPhotoEd.3">
                  <p:embed/>
                  <p:pic>
                    <p:nvPicPr>
                      <p:cNvPr id="10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418" y="1821507"/>
                        <a:ext cx="1221581" cy="1221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7160419" y="3202632"/>
          <a:ext cx="1297781" cy="1297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2491956" imgH="2491956" progId="MSPhotoEd.3">
                  <p:embed/>
                </p:oleObj>
              </mc:Choice>
              <mc:Fallback>
                <p:oleObj name="Photo Editor Photo" r:id="rId5" imgW="2491956" imgH="2491956" progId="MSPhotoEd.3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419" y="3202632"/>
                        <a:ext cx="1297781" cy="1297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1" name="Group 13"/>
          <p:cNvGrpSpPr>
            <a:grpSpLocks/>
          </p:cNvGrpSpPr>
          <p:nvPr/>
        </p:nvGrpSpPr>
        <p:grpSpPr bwMode="auto">
          <a:xfrm>
            <a:off x="7239000" y="4787503"/>
            <a:ext cx="1219200" cy="1297781"/>
            <a:chOff x="4027" y="3072"/>
            <a:chExt cx="891" cy="907"/>
          </a:xfrm>
        </p:grpSpPr>
        <p:graphicFrame>
          <p:nvGraphicFramePr>
            <p:cNvPr id="1028" name="Object 8"/>
            <p:cNvGraphicFramePr>
              <a:graphicFrameLocks noChangeAspect="1"/>
            </p:cNvGraphicFramePr>
            <p:nvPr/>
          </p:nvGraphicFramePr>
          <p:xfrm>
            <a:off x="4032" y="3072"/>
            <a:ext cx="886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7" imgW="2461473" imgH="2446232" progId="MSPhotoEd.3">
                    <p:embed/>
                  </p:oleObj>
                </mc:Choice>
                <mc:Fallback>
                  <p:oleObj name="Photo Editor Photo" r:id="rId7" imgW="2461473" imgH="2446232" progId="MSPhotoEd.3">
                    <p:embed/>
                    <p:pic>
                      <p:nvPicPr>
                        <p:cNvPr id="102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072"/>
                          <a:ext cx="886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33" name="Picture 12"/>
            <p:cNvPicPr>
              <a:picLocks noChangeAspect="1" noChangeArrowheads="1"/>
            </p:cNvPicPr>
            <p:nvPr/>
          </p:nvPicPr>
          <p:blipFill>
            <a:blip r:embed="rId9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143" r="62584" b="-1559"/>
            <a:stretch>
              <a:fillRect/>
            </a:stretch>
          </p:blipFill>
          <p:spPr bwMode="auto">
            <a:xfrm>
              <a:off x="4027" y="3643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346AA9-6681-4D83-858B-B56504F6A5F8}" type="slidenum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37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Random Variables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A random variable is </a:t>
            </a:r>
            <a:r>
              <a:rPr lang="en-US" sz="1800" b="1" dirty="0"/>
              <a:t>some aspect of the world </a:t>
            </a:r>
            <a:r>
              <a:rPr lang="en-US" sz="1800" dirty="0"/>
              <a:t>about which we are </a:t>
            </a:r>
            <a:r>
              <a:rPr lang="en-US" sz="1800" b="1" dirty="0">
                <a:solidFill>
                  <a:srgbClr val="FF0000"/>
                </a:solidFill>
              </a:rPr>
              <a:t>uncertain</a:t>
            </a:r>
          </a:p>
          <a:p>
            <a:pPr lvl="8">
              <a:lnSpc>
                <a:spcPct val="90000"/>
              </a:lnSpc>
            </a:pPr>
            <a:endParaRPr lang="en-US" sz="900" dirty="0"/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R = Is it raining?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T = Is it hot or cold?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D = How long will it take to drive to work?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L = Where is the ghost (Pacman)?</a:t>
            </a:r>
          </a:p>
          <a:p>
            <a:pPr lvl="2">
              <a:lnSpc>
                <a:spcPct val="90000"/>
              </a:lnSpc>
            </a:pPr>
            <a:endParaRPr lang="en-US" sz="12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We denote random variables with </a:t>
            </a:r>
            <a:r>
              <a:rPr lang="en-US" sz="1800" b="1" dirty="0"/>
              <a:t>capital letters</a:t>
            </a:r>
          </a:p>
          <a:p>
            <a:pPr lvl="2">
              <a:lnSpc>
                <a:spcPct val="90000"/>
              </a:lnSpc>
            </a:pPr>
            <a:endParaRPr lang="en-US" sz="12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Random variables have </a:t>
            </a:r>
            <a:r>
              <a:rPr lang="en-US" sz="1800" b="1" dirty="0">
                <a:solidFill>
                  <a:srgbClr val="FF0000"/>
                </a:solidFill>
              </a:rPr>
              <a:t>domains</a:t>
            </a:r>
          </a:p>
          <a:p>
            <a:pPr lvl="8">
              <a:lnSpc>
                <a:spcPct val="90000"/>
              </a:lnSpc>
            </a:pPr>
            <a:endParaRPr lang="en-US" sz="900" dirty="0"/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R in {true, false}   also written as {+r, </a:t>
            </a:r>
            <a:r>
              <a:rPr lang="en-US" sz="1500" dirty="0">
                <a:sym typeface="Symbol" pitchFamily="18" charset="2"/>
              </a:rPr>
              <a:t>-</a:t>
            </a:r>
            <a:r>
              <a:rPr lang="en-US" sz="1500" dirty="0"/>
              <a:t>r}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T in {hot, cold}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D in [0, </a:t>
            </a:r>
            <a:r>
              <a:rPr lang="en-US" sz="1500" dirty="0">
                <a:sym typeface="Symbol" pitchFamily="18" charset="2"/>
              </a:rPr>
              <a:t>)</a:t>
            </a:r>
            <a:endParaRPr lang="en-US" sz="1500" dirty="0"/>
          </a:p>
          <a:p>
            <a:pPr lvl="1" eaLnBrk="1" hangingPunct="1">
              <a:lnSpc>
                <a:spcPct val="90000"/>
              </a:lnSpc>
            </a:pPr>
            <a:r>
              <a:rPr lang="en-US" sz="1500" dirty="0"/>
              <a:t>L in possible locations, maybe {(0,0), (0,1), …}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65" y="1933780"/>
            <a:ext cx="3070557" cy="309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Associate a single number, </a:t>
            </a:r>
            <a:r>
              <a:rPr lang="en-US" sz="1800" i="1" dirty="0">
                <a:solidFill>
                  <a:srgbClr val="C00000"/>
                </a:solidFill>
              </a:rPr>
              <a:t>probability</a:t>
            </a:r>
            <a:r>
              <a:rPr lang="en-US" sz="1800" dirty="0"/>
              <a:t>, with each value</a:t>
            </a:r>
          </a:p>
          <a:p>
            <a:endParaRPr lang="en-US" sz="1800" dirty="0"/>
          </a:p>
          <a:p>
            <a:pPr lvl="1"/>
            <a:r>
              <a:rPr lang="en-US" sz="1500" dirty="0"/>
              <a:t>Temperature: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lvl="3"/>
            <a:endParaRPr lang="en-US" sz="900" dirty="0"/>
          </a:p>
          <a:p>
            <a:pPr lvl="3"/>
            <a:endParaRPr lang="en-US" sz="900" dirty="0"/>
          </a:p>
          <a:p>
            <a:pPr lvl="3"/>
            <a:endParaRPr lang="en-US" sz="900" dirty="0"/>
          </a:p>
          <a:p>
            <a:pPr lvl="3"/>
            <a:endParaRPr lang="en-US" sz="900" dirty="0"/>
          </a:p>
          <a:p>
            <a:pPr lvl="3"/>
            <a:endParaRPr lang="en-US" sz="900" dirty="0"/>
          </a:p>
          <a:p>
            <a:pPr lvl="3"/>
            <a:endParaRPr lang="en-US" sz="900" dirty="0"/>
          </a:p>
          <a:p>
            <a:r>
              <a:rPr lang="en-US" sz="1800" dirty="0"/>
              <a:t>A </a:t>
            </a:r>
            <a:r>
              <a:rPr lang="en-US" sz="1800" b="1" dirty="0">
                <a:solidFill>
                  <a:srgbClr val="FF0000"/>
                </a:solidFill>
              </a:rPr>
              <a:t>distribution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is a </a:t>
            </a:r>
            <a:r>
              <a:rPr lang="en-US" sz="1800" b="1" dirty="0">
                <a:solidFill>
                  <a:srgbClr val="FF0000"/>
                </a:solidFill>
              </a:rPr>
              <a:t>TABLE</a:t>
            </a:r>
            <a:r>
              <a:rPr lang="en-US" sz="1800" dirty="0"/>
              <a:t> of probabilities of values, such that</a:t>
            </a:r>
          </a:p>
          <a:p>
            <a:pPr lvl="8"/>
            <a:endParaRPr lang="en-US" sz="900" dirty="0"/>
          </a:p>
          <a:p>
            <a:pPr lvl="1"/>
            <a:endParaRPr lang="en-US" sz="17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5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00796"/>
              </p:ext>
            </p:extLst>
          </p:nvPr>
        </p:nvGraphicFramePr>
        <p:xfrm>
          <a:off x="2645492" y="3271869"/>
          <a:ext cx="1071563" cy="84582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9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624" y="2988499"/>
            <a:ext cx="548878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02481"/>
              </p:ext>
            </p:extLst>
          </p:nvPr>
        </p:nvGraphicFramePr>
        <p:xfrm>
          <a:off x="7311167" y="3085391"/>
          <a:ext cx="1441848" cy="1409700"/>
        </p:xfrm>
        <a:graphic>
          <a:graphicData uri="http://schemas.openxmlformats.org/drawingml/2006/table">
            <a:tbl>
              <a:tblPr/>
              <a:tblGrid>
                <a:gridCol w="86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78" marR="68578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78" marR="68578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78" marR="68578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68578" marR="68578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78" marR="68578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78" marR="68578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fog</a:t>
                      </a:r>
                    </a:p>
                  </a:txBody>
                  <a:tcPr marL="68578" marR="68578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78" marR="68578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meteor</a:t>
                      </a:r>
                    </a:p>
                  </a:txBody>
                  <a:tcPr marL="68578" marR="68578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</a:t>
                      </a:r>
                    </a:p>
                  </a:txBody>
                  <a:tcPr marL="68578" marR="68578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9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032" y="2750749"/>
            <a:ext cx="638175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49" y="2784794"/>
            <a:ext cx="1908666" cy="178720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820" y="2872834"/>
            <a:ext cx="2408462" cy="1605641"/>
          </a:xfrm>
          <a:prstGeom prst="rect">
            <a:avLst/>
          </a:prstGeom>
        </p:spPr>
      </p:pic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4799608" y="1790880"/>
            <a:ext cx="3532007" cy="1177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77" tIns="34289" rIns="68577" bIns="34289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800" dirty="0"/>
          </a:p>
          <a:p>
            <a:endParaRPr lang="en-US" sz="1800" dirty="0"/>
          </a:p>
          <a:p>
            <a:pPr lvl="1"/>
            <a:r>
              <a:rPr lang="en-US" sz="1500" dirty="0"/>
              <a:t>Weather: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lvl="3"/>
            <a:endParaRPr lang="en-US" sz="900" dirty="0"/>
          </a:p>
        </p:txBody>
      </p:sp>
      <p:pic>
        <p:nvPicPr>
          <p:cNvPr id="12" name="Picture 11" descr="txp_fig">
            <a:extLst>
              <a:ext uri="{FF2B5EF4-FFF2-40B4-BE49-F238E27FC236}">
                <a16:creationId xmlns:a16="http://schemas.microsoft.com/office/drawing/2014/main" id="{9848DE73-0D9B-44D6-8874-7EDBC33DE7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205" y="2040746"/>
            <a:ext cx="2138363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txp_fig.png">
            <a:extLst>
              <a:ext uri="{FF2B5EF4-FFF2-40B4-BE49-F238E27FC236}">
                <a16:creationId xmlns:a16="http://schemas.microsoft.com/office/drawing/2014/main" id="{A24D818C-2812-437E-B22A-16EBD9125D6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84274" y="5364409"/>
            <a:ext cx="1937985" cy="2240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4" name="Picture 13" descr="txp_fig.png">
            <a:extLst>
              <a:ext uri="{FF2B5EF4-FFF2-40B4-BE49-F238E27FC236}">
                <a16:creationId xmlns:a16="http://schemas.microsoft.com/office/drawing/2014/main" id="{AA1DEE13-6DD0-4BEE-B36C-0AE91278725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7308" y="5704146"/>
            <a:ext cx="1869383" cy="4253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3169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79915"/>
          </a:xfrm>
        </p:spPr>
        <p:txBody>
          <a:bodyPr/>
          <a:lstStyle/>
          <a:p>
            <a:pPr eaLnBrk="1" hangingPunct="1"/>
            <a:r>
              <a:rPr lang="en-US" dirty="0"/>
              <a:t>Joint Distributions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55985" y="1861785"/>
            <a:ext cx="5943482" cy="3714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dirty="0"/>
              <a:t>A </a:t>
            </a:r>
            <a:r>
              <a:rPr lang="en-US" sz="1800" i="1" dirty="0"/>
              <a:t>joint distribution</a:t>
            </a:r>
            <a:r>
              <a:rPr lang="en-US" sz="1800" dirty="0"/>
              <a:t> over </a:t>
            </a:r>
            <a:r>
              <a:rPr lang="en-US" sz="1800" b="1" dirty="0"/>
              <a:t>a set of random variables</a:t>
            </a:r>
            <a:r>
              <a:rPr lang="en-US" sz="1800" dirty="0"/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specifies a real number for each </a:t>
            </a:r>
            <a:r>
              <a:rPr lang="en-US" sz="1800" i="1" dirty="0"/>
              <a:t>outcome</a:t>
            </a:r>
            <a:r>
              <a:rPr lang="en-US" sz="1800" dirty="0"/>
              <a:t>: </a:t>
            </a:r>
          </a:p>
          <a:p>
            <a:pPr lvl="2" eaLnBrk="1" hangingPunct="1">
              <a:lnSpc>
                <a:spcPct val="80000"/>
              </a:lnSpc>
            </a:pPr>
            <a:endParaRPr lang="en-US" sz="1350" dirty="0"/>
          </a:p>
          <a:p>
            <a:pPr lvl="1" eaLnBrk="1" hangingPunct="1">
              <a:lnSpc>
                <a:spcPct val="80000"/>
              </a:lnSpc>
            </a:pPr>
            <a:endParaRPr lang="en-US" sz="1350" dirty="0"/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lvl="5">
              <a:lnSpc>
                <a:spcPct val="80000"/>
              </a:lnSpc>
            </a:pPr>
            <a:endParaRPr lang="en-US" sz="900" dirty="0"/>
          </a:p>
          <a:p>
            <a:pPr lvl="1" eaLnBrk="1" hangingPunct="1">
              <a:lnSpc>
                <a:spcPct val="80000"/>
              </a:lnSpc>
            </a:pPr>
            <a:r>
              <a:rPr lang="en-US" sz="1500" dirty="0"/>
              <a:t>Must obey:</a:t>
            </a: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lvl="7">
              <a:lnSpc>
                <a:spcPct val="80000"/>
              </a:lnSpc>
            </a:pPr>
            <a:endParaRPr lang="en-US" sz="9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sz="1800" dirty="0"/>
              <a:t>Size of distribution of </a:t>
            </a:r>
            <a:r>
              <a:rPr lang="en-US" sz="1800" i="1" dirty="0"/>
              <a:t>n</a:t>
            </a:r>
            <a:r>
              <a:rPr lang="en-US" sz="1800" dirty="0"/>
              <a:t> variables with domain size </a:t>
            </a:r>
            <a:r>
              <a:rPr lang="en-US" sz="1800" i="1" dirty="0"/>
              <a:t>d</a:t>
            </a:r>
            <a:r>
              <a:rPr lang="en-US" sz="1800" dirty="0"/>
              <a:t>?</a:t>
            </a:r>
          </a:p>
          <a:p>
            <a:pPr lvl="4">
              <a:lnSpc>
                <a:spcPct val="80000"/>
              </a:lnSpc>
            </a:pPr>
            <a:endParaRPr lang="en-US" sz="900" dirty="0"/>
          </a:p>
          <a:p>
            <a:pPr lvl="1">
              <a:lnSpc>
                <a:spcPct val="80000"/>
              </a:lnSpc>
            </a:pPr>
            <a:r>
              <a:rPr lang="en-US" sz="1500" dirty="0"/>
              <a:t>For all but the smallest distributions, impractical to write out!</a:t>
            </a:r>
          </a:p>
        </p:txBody>
      </p:sp>
      <p:pic>
        <p:nvPicPr>
          <p:cNvPr id="922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37147"/>
            <a:ext cx="1352550" cy="19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0033" y="2648287"/>
            <a:ext cx="3650456" cy="2239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0246" name="Picture 1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17" y="3060089"/>
            <a:ext cx="1834011" cy="24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867" y="3677299"/>
            <a:ext cx="2127647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5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4" y="4132289"/>
            <a:ext cx="3269456" cy="50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10734" name="Group 46"/>
          <p:cNvGraphicFramePr>
            <a:graphicFrameLocks noGrp="1"/>
          </p:cNvGraphicFramePr>
          <p:nvPr/>
        </p:nvGraphicFramePr>
        <p:xfrm>
          <a:off x="6400800" y="2712585"/>
          <a:ext cx="1766215" cy="1485900"/>
        </p:xfrm>
        <a:graphic>
          <a:graphicData uri="http://schemas.openxmlformats.org/drawingml/2006/table">
            <a:tbl>
              <a:tblPr/>
              <a:tblGrid>
                <a:gridCol w="582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250" y="2362200"/>
            <a:ext cx="884634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43295" y="6400800"/>
            <a:ext cx="2133600" cy="457200"/>
          </a:xfrm>
        </p:spPr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6572085" y="4947287"/>
            <a:ext cx="1647825" cy="954116"/>
            <a:chOff x="5105400" y="2512724"/>
            <a:chExt cx="2895600" cy="1676400"/>
          </a:xfrm>
        </p:grpSpPr>
        <p:sp>
          <p:nvSpPr>
            <p:cNvPr id="15" name="Oval 33"/>
            <p:cNvSpPr>
              <a:spLocks noChangeArrowheads="1"/>
            </p:cNvSpPr>
            <p:nvPr/>
          </p:nvSpPr>
          <p:spPr bwMode="auto">
            <a:xfrm>
              <a:off x="5105400" y="2512724"/>
              <a:ext cx="1828800" cy="1676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34"/>
            <p:cNvSpPr>
              <a:spLocks noChangeArrowheads="1"/>
            </p:cNvSpPr>
            <p:nvPr/>
          </p:nvSpPr>
          <p:spPr bwMode="auto">
            <a:xfrm>
              <a:off x="6172200" y="2512724"/>
              <a:ext cx="1828800" cy="1676400"/>
            </a:xfrm>
            <a:prstGeom prst="ellipse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6172200" y="4648200"/>
            <a:ext cx="2381140" cy="161598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529053" y="5941017"/>
            <a:ext cx="4988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rgbClr val="FF9786"/>
                </a:solidFill>
                <a:latin typeface="Calibri"/>
                <a:cs typeface="Calibri"/>
              </a:rPr>
              <a:t>P(b)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1232" y="5919202"/>
            <a:ext cx="4988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accent2"/>
                </a:solidFill>
                <a:latin typeface="Calibri"/>
                <a:cs typeface="Calibri"/>
              </a:rPr>
              <a:t>P(a)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150" y="4672676"/>
            <a:ext cx="6463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rgbClr val="E57071"/>
                </a:solidFill>
                <a:latin typeface="Calibri"/>
                <a:cs typeface="Calibri"/>
              </a:rPr>
              <a:t>P(</a:t>
            </a:r>
            <a:r>
              <a:rPr lang="en-US" sz="1500" i="1" dirty="0" err="1">
                <a:solidFill>
                  <a:srgbClr val="E57071"/>
                </a:solidFill>
                <a:latin typeface="Calibri"/>
                <a:cs typeface="Calibri"/>
              </a:rPr>
              <a:t>a,b</a:t>
            </a:r>
            <a:r>
              <a:rPr lang="en-US" sz="1500" i="1" dirty="0">
                <a:solidFill>
                  <a:srgbClr val="E57071"/>
                </a:solidFill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257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543800" cy="1066800"/>
          </a:xfrm>
        </p:spPr>
        <p:txBody>
          <a:bodyPr/>
          <a:lstStyle/>
          <a:p>
            <a:pPr eaLnBrk="1" hangingPunct="1"/>
            <a:r>
              <a:rPr lang="en-US" dirty="0"/>
              <a:t>Events and Sample Space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475"/>
            <a:ext cx="5105400" cy="384324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100" dirty="0"/>
              <a:t>An </a:t>
            </a:r>
            <a:r>
              <a:rPr lang="en-US" sz="2100" i="1" dirty="0"/>
              <a:t>event</a:t>
            </a:r>
            <a:r>
              <a:rPr lang="en-US" sz="2100" dirty="0"/>
              <a:t> is a set E of outcomes</a:t>
            </a:r>
          </a:p>
          <a:p>
            <a:pPr eaLnBrk="1" hangingPunct="1">
              <a:lnSpc>
                <a:spcPct val="80000"/>
              </a:lnSpc>
            </a:pPr>
            <a:endParaRPr lang="en-US" sz="2100" dirty="0"/>
          </a:p>
          <a:p>
            <a:pPr marL="2743063" lvl="8" indent="0">
              <a:lnSpc>
                <a:spcPct val="80000"/>
              </a:lnSpc>
              <a:buNone/>
            </a:pPr>
            <a:endParaRPr lang="en-US" sz="2100" dirty="0"/>
          </a:p>
          <a:p>
            <a:pPr marL="2743063" lvl="8" indent="0">
              <a:lnSpc>
                <a:spcPct val="80000"/>
              </a:lnSpc>
              <a:buNone/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endParaRPr lang="en-US" sz="2100" dirty="0"/>
          </a:p>
          <a:p>
            <a:pPr eaLnBrk="1" hangingPunct="1">
              <a:lnSpc>
                <a:spcPct val="80000"/>
              </a:lnSpc>
            </a:pPr>
            <a:r>
              <a:rPr lang="en-US" sz="2100" dirty="0"/>
              <a:t>From a joint distribution, we can calculate the probability of </a:t>
            </a:r>
            <a:r>
              <a:rPr lang="en-US" sz="2100" i="1" dirty="0"/>
              <a:t>any</a:t>
            </a:r>
            <a:r>
              <a:rPr lang="en-US" sz="2100" dirty="0"/>
              <a:t> event</a:t>
            </a:r>
          </a:p>
          <a:p>
            <a:pPr lvl="3">
              <a:lnSpc>
                <a:spcPct val="80000"/>
              </a:lnSpc>
            </a:pPr>
            <a:endParaRPr lang="en-US" sz="1200" dirty="0"/>
          </a:p>
          <a:p>
            <a:pPr lvl="1" eaLnBrk="1" hangingPunct="1">
              <a:lnSpc>
                <a:spcPct val="80000"/>
              </a:lnSpc>
            </a:pPr>
            <a:r>
              <a:rPr lang="en-US" sz="1500" dirty="0"/>
              <a:t>Probability that it’s hot AND sunny?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 dirty="0"/>
              <a:t>Probability that it’s hot OR sunny?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500" dirty="0"/>
              <a:t>Probability that it’s hot?</a:t>
            </a:r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</a:pPr>
            <a:endParaRPr lang="en-US" sz="2100" dirty="0"/>
          </a:p>
          <a:p>
            <a:pPr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500" dirty="0"/>
              <a:t> </a:t>
            </a:r>
          </a:p>
        </p:txBody>
      </p:sp>
      <p:graphicFrame>
        <p:nvGraphicFramePr>
          <p:cNvPr id="1036292" name="Group 4"/>
          <p:cNvGraphicFramePr>
            <a:graphicFrameLocks noGrp="1"/>
          </p:cNvGraphicFramePr>
          <p:nvPr/>
        </p:nvGraphicFramePr>
        <p:xfrm>
          <a:off x="6169677" y="3446100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294" name="Picture 3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3036764" cy="46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108" y="3074390"/>
            <a:ext cx="884634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29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work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928901"/>
            <a:ext cx="4453395" cy="3843249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1800" b="1" dirty="0"/>
              <a:t>C</a:t>
            </a:r>
            <a:r>
              <a:rPr lang="en-US" sz="1800" dirty="0"/>
              <a:t>: a woman aged 40-50 has breast </a:t>
            </a:r>
            <a:r>
              <a:rPr lang="en-US" sz="1800" b="1" dirty="0"/>
              <a:t>C</a:t>
            </a:r>
            <a:r>
              <a:rPr lang="en-US" sz="1800" dirty="0"/>
              <a:t>ancer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800" b="1" dirty="0"/>
              <a:t>M</a:t>
            </a:r>
            <a:r>
              <a:rPr lang="en-US" sz="1800" dirty="0"/>
              <a:t>: result of a </a:t>
            </a:r>
            <a:r>
              <a:rPr lang="en-US" sz="1800" b="1" dirty="0"/>
              <a:t>M</a:t>
            </a:r>
            <a:r>
              <a:rPr lang="en-US" sz="1800" dirty="0"/>
              <a:t>ammogram</a:t>
            </a:r>
          </a:p>
          <a:p>
            <a:pPr marL="0" indent="0">
              <a:lnSpc>
                <a:spcPct val="80000"/>
              </a:lnSpc>
              <a:buNone/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sz="1800" dirty="0"/>
              <a:t>P(+c, +m) ?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P(+c) ?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P(-m OR +c) ?</a:t>
            </a:r>
          </a:p>
          <a:p>
            <a:pPr marL="342882" lvl="1" indent="0" eaLnBrk="1" hangingPunct="1">
              <a:lnSpc>
                <a:spcPct val="80000"/>
              </a:lnSpc>
              <a:buNone/>
            </a:pPr>
            <a:endParaRPr lang="en-US" sz="1500" dirty="0"/>
          </a:p>
          <a:p>
            <a:pPr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500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47B593-01D6-4DC3-9C4A-884672B85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367897"/>
              </p:ext>
            </p:extLst>
          </p:nvPr>
        </p:nvGraphicFramePr>
        <p:xfrm>
          <a:off x="5029200" y="1996325"/>
          <a:ext cx="3581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255233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P(C,M)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854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38434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0.891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68462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6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Marginal Distributions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13509" y="1752600"/>
            <a:ext cx="8061967" cy="204995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Typically, the events we care about are </a:t>
            </a:r>
            <a:r>
              <a:rPr lang="en-US" sz="2000" i="1" dirty="0"/>
              <a:t>partial outcomes</a:t>
            </a:r>
            <a:r>
              <a:rPr lang="en-US" sz="2000" dirty="0"/>
              <a:t>, like P(T=hot)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The set of </a:t>
            </a:r>
            <a:r>
              <a:rPr lang="en-US" sz="2000" b="1" dirty="0"/>
              <a:t>all possible outcomes </a:t>
            </a:r>
            <a:r>
              <a:rPr lang="en-US" sz="2000" dirty="0"/>
              <a:t>of an event E is its sample space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700" dirty="0"/>
              <a:t>The sample space for it’s hot = {it’s hot and sun, it’s hot and rain}</a:t>
            </a:r>
          </a:p>
          <a:p>
            <a:pPr eaLnBrk="1" hangingPunct="1"/>
            <a:r>
              <a:rPr lang="en-US" sz="1800" dirty="0"/>
              <a:t>Marginal distributions are </a:t>
            </a:r>
            <a:r>
              <a:rPr lang="en-US" sz="1800" b="1" dirty="0"/>
              <a:t>sub-tables</a:t>
            </a:r>
            <a:r>
              <a:rPr lang="en-US" sz="1800" dirty="0"/>
              <a:t> which </a:t>
            </a:r>
            <a:r>
              <a:rPr lang="en-US" sz="1800" b="1" dirty="0"/>
              <a:t>eliminate variables </a:t>
            </a:r>
          </a:p>
          <a:p>
            <a:pPr eaLnBrk="1" hangingPunct="1"/>
            <a:r>
              <a:rPr lang="en-US" sz="1800" i="1" dirty="0">
                <a:solidFill>
                  <a:srgbClr val="C00000"/>
                </a:solidFill>
              </a:rPr>
              <a:t>Marginalization</a:t>
            </a:r>
            <a:r>
              <a:rPr lang="en-US" sz="1800" dirty="0"/>
              <a:t> (summing out): Combine collapsed rows by adding</a:t>
            </a:r>
          </a:p>
        </p:txBody>
      </p:sp>
      <p:graphicFrame>
        <p:nvGraphicFramePr>
          <p:cNvPr id="101274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112063"/>
              </p:ext>
            </p:extLst>
          </p:nvPr>
        </p:nvGraphicFramePr>
        <p:xfrm>
          <a:off x="257662" y="4292202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12796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137115"/>
              </p:ext>
            </p:extLst>
          </p:nvPr>
        </p:nvGraphicFramePr>
        <p:xfrm>
          <a:off x="5361685" y="4106164"/>
          <a:ext cx="1371600" cy="8917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2797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954"/>
              </p:ext>
            </p:extLst>
          </p:nvPr>
        </p:nvGraphicFramePr>
        <p:xfrm>
          <a:off x="5361685" y="5477764"/>
          <a:ext cx="1371600" cy="8917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2817" name="Line 81"/>
          <p:cNvSpPr>
            <a:spLocks noChangeShapeType="1"/>
          </p:cNvSpPr>
          <p:nvPr/>
        </p:nvSpPr>
        <p:spPr bwMode="auto">
          <a:xfrm flipV="1">
            <a:off x="2775656" y="4383536"/>
            <a:ext cx="2057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2818" name="Line 82"/>
          <p:cNvSpPr>
            <a:spLocks noChangeShapeType="1"/>
          </p:cNvSpPr>
          <p:nvPr/>
        </p:nvSpPr>
        <p:spPr bwMode="auto">
          <a:xfrm>
            <a:off x="2775656" y="5561591"/>
            <a:ext cx="2057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348" name="Picture 6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1" y="3948112"/>
            <a:ext cx="883444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2827" name="Picture 9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072" y="3802555"/>
            <a:ext cx="548879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68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872" y="5174155"/>
            <a:ext cx="638175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841" y="4383536"/>
            <a:ext cx="2215768" cy="145147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37718" y="4362236"/>
                <a:ext cx="2511364" cy="764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718" y="4362236"/>
                <a:ext cx="2511364" cy="764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14600" y="5560224"/>
                <a:ext cx="2511364" cy="764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5560224"/>
                <a:ext cx="2511364" cy="7643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76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2817" grpId="0" animBg="1"/>
      <p:bldP spid="10128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work</a:t>
            </a:r>
          </a:p>
        </p:txBody>
      </p:sp>
      <p:graphicFrame>
        <p:nvGraphicFramePr>
          <p:cNvPr id="1012796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43296"/>
              </p:ext>
            </p:extLst>
          </p:nvPr>
        </p:nvGraphicFramePr>
        <p:xfrm>
          <a:off x="5339913" y="2292934"/>
          <a:ext cx="1371600" cy="8917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P(C)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2797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059718"/>
              </p:ext>
            </p:extLst>
          </p:nvPr>
        </p:nvGraphicFramePr>
        <p:xfrm>
          <a:off x="5339913" y="3664534"/>
          <a:ext cx="1371600" cy="8917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P(M)</a:t>
                      </a: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2817" name="Line 81"/>
          <p:cNvSpPr>
            <a:spLocks noChangeShapeType="1"/>
          </p:cNvSpPr>
          <p:nvPr/>
        </p:nvSpPr>
        <p:spPr bwMode="auto">
          <a:xfrm flipV="1">
            <a:off x="3248351" y="2738824"/>
            <a:ext cx="2057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2818" name="Line 82"/>
          <p:cNvSpPr>
            <a:spLocks noChangeShapeType="1"/>
          </p:cNvSpPr>
          <p:nvPr/>
        </p:nvSpPr>
        <p:spPr bwMode="auto">
          <a:xfrm>
            <a:off x="3232350" y="4131939"/>
            <a:ext cx="2057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232" y="1715910"/>
            <a:ext cx="2215768" cy="145147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65CDF51-34C3-4B16-B3E1-EEFCF9FC8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592232"/>
              </p:ext>
            </p:extLst>
          </p:nvPr>
        </p:nvGraphicFramePr>
        <p:xfrm>
          <a:off x="533191" y="2501900"/>
          <a:ext cx="259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383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827383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  <a:gridCol w="936034">
                  <a:extLst>
                    <a:ext uri="{9D8B030D-6E8A-4147-A177-3AD203B41FA5}">
                      <a16:colId xmlns:a16="http://schemas.microsoft.com/office/drawing/2014/main" val="2255233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P(C,M)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854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38434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0.891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68462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63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1" dirty="0"/>
                  <a:t>Probability</a:t>
                </a:r>
                <a:r>
                  <a:rPr lang="en-US" sz="2000" dirty="0"/>
                  <a:t> of an </a:t>
                </a:r>
                <a:r>
                  <a:rPr lang="en-US" sz="2000" b="1" dirty="0"/>
                  <a:t>event occurring </a:t>
                </a:r>
                <a:r>
                  <a:rPr lang="en-US" sz="2000" dirty="0"/>
                  <a:t>given that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another event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has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occurred </a:t>
                </a:r>
                <a:r>
                  <a:rPr lang="en-US" sz="2000" dirty="0"/>
                  <a:t>(by assumption, or evidence)  </a:t>
                </a:r>
              </a:p>
              <a:p>
                <a:r>
                  <a:rPr lang="en-US" altLang="en-US" dirty="0"/>
                  <a:t>Notation:</a:t>
                </a:r>
              </a:p>
              <a:p>
                <a:pPr lvl="1"/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“Probability of A given B”</a:t>
                </a:r>
              </a:p>
              <a:p>
                <a:pPr lvl="1"/>
                <a:r>
                  <a:rPr lang="en-US" altLang="en-US" dirty="0"/>
                  <a:t>Everything to the right of the bar has occurred</a:t>
                </a:r>
              </a:p>
              <a:p>
                <a:pPr lvl="1"/>
                <a:r>
                  <a:rPr lang="en-US" altLang="en-US" dirty="0"/>
                  <a:t>Everything to the left is unknown</a:t>
                </a:r>
              </a:p>
              <a:p>
                <a:pPr lvl="1"/>
                <a:endParaRPr lang="en-US" altLang="en-US" dirty="0"/>
              </a:p>
              <a:p>
                <a:pPr lvl="1"/>
                <a:endParaRPr lang="en-US" altLang="en-US" dirty="0"/>
              </a:p>
            </p:txBody>
          </p:sp>
        </mc:Choice>
        <mc:Fallback xmlns="">
          <p:sp>
            <p:nvSpPr>
              <p:cNvPr id="81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4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8400"/>
            <a:ext cx="2133600" cy="457200"/>
          </a:xfrm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39AFA552-00EF-44CD-B685-28E57CF76041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12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430" y="2755106"/>
            <a:ext cx="2896019" cy="1969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5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724766" y="1885949"/>
                <a:ext cx="7886700" cy="4470401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/>
                  <a:t>Diagnosis using a clinical test </a:t>
                </a:r>
              </a:p>
              <a:p>
                <a:r>
                  <a:rPr lang="en-US" altLang="en-US" dirty="0"/>
                  <a:t>Sample space = all women aged 40-50 and had a mammogram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800" b="1" dirty="0"/>
                  <a:t>C</a:t>
                </a:r>
                <a:r>
                  <a:rPr lang="en-US" sz="1800" dirty="0"/>
                  <a:t>: a woman aged 40-50 has breast </a:t>
                </a:r>
                <a:r>
                  <a:rPr lang="en-US" sz="1800" b="1" dirty="0"/>
                  <a:t>C</a:t>
                </a:r>
                <a:r>
                  <a:rPr lang="en-US" sz="1800" dirty="0"/>
                  <a:t>ancer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sz="1800" b="1" dirty="0"/>
                  <a:t>M</a:t>
                </a:r>
                <a:r>
                  <a:rPr lang="en-US" sz="1800" dirty="0"/>
                  <a:t>: result of a </a:t>
                </a:r>
                <a:r>
                  <a:rPr lang="en-US" sz="1800" b="1" dirty="0"/>
                  <a:t>M</a:t>
                </a:r>
                <a:r>
                  <a:rPr lang="en-US" sz="1800" dirty="0"/>
                  <a:t>ammogram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Probability woman has cancer and mammogram is positive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Probability woman has cancer and mammogram is negative (false negative)          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Probability woman doesn’t have cancer and mammogram is positive (false positive)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|+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Probability woman has cancer given that her mammogram is positive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|+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en-US" dirty="0"/>
              </a:p>
              <a:p>
                <a:pPr lvl="2"/>
                <a:r>
                  <a:rPr lang="en-US" altLang="en-US" dirty="0"/>
                  <a:t>Probability that the mammogram will be positive if it is on a woman known to have cancer (true positive rate)</a:t>
                </a:r>
              </a:p>
            </p:txBody>
          </p:sp>
        </mc:Choice>
        <mc:Fallback xmlns=""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724766" y="1885949"/>
                <a:ext cx="7886700" cy="4470401"/>
              </a:xfrm>
              <a:blipFill>
                <a:blip r:embed="rId3"/>
                <a:stretch>
                  <a:fillRect l="-773" t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17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Probability Applications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Medical diagnosis</a:t>
            </a:r>
          </a:p>
          <a:p>
            <a:pPr lvl="1"/>
            <a:r>
              <a:rPr lang="en-US" altLang="en-US" dirty="0"/>
              <a:t>Probability of disease, given medical test is true</a:t>
            </a:r>
          </a:p>
          <a:p>
            <a:r>
              <a:rPr lang="en-US" altLang="en-US" dirty="0"/>
              <a:t>Robot localization</a:t>
            </a:r>
          </a:p>
          <a:p>
            <a:pPr lvl="1"/>
            <a:r>
              <a:rPr lang="en-US" altLang="en-US" dirty="0"/>
              <a:t>Probability robot is at a specific location, given sensor values</a:t>
            </a:r>
          </a:p>
          <a:p>
            <a:r>
              <a:rPr lang="en-US" altLang="en-US" dirty="0"/>
              <a:t>Spam filtering</a:t>
            </a:r>
          </a:p>
          <a:p>
            <a:pPr lvl="1"/>
            <a:r>
              <a:rPr lang="en-US" altLang="en-US" dirty="0"/>
              <a:t>Probability email is spam, given email contains URLs and has spelling mistakes 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8400"/>
            <a:ext cx="2133600" cy="457200"/>
          </a:xfrm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39AFA552-00EF-44CD-B685-28E57CF76041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14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40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184" y="286869"/>
            <a:ext cx="7543800" cy="726073"/>
          </a:xfrm>
        </p:spPr>
        <p:txBody>
          <a:bodyPr/>
          <a:lstStyle/>
          <a:p>
            <a:pPr eaLnBrk="1" hangingPunct="1"/>
            <a:r>
              <a:rPr lang="en-US" dirty="0"/>
              <a:t>Conditional Probabilities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38126" y="1447800"/>
            <a:ext cx="6422231" cy="3889774"/>
          </a:xfrm>
        </p:spPr>
        <p:txBody>
          <a:bodyPr/>
          <a:lstStyle/>
          <a:p>
            <a:pPr eaLnBrk="1" hangingPunct="1"/>
            <a:r>
              <a:rPr lang="en-US" sz="1800" dirty="0"/>
              <a:t>A simple relation between joint and conditional probabilities</a:t>
            </a:r>
          </a:p>
          <a:p>
            <a:pPr lvl="1" eaLnBrk="1" hangingPunct="1"/>
            <a:r>
              <a:rPr lang="en-US" sz="1500" dirty="0">
                <a:solidFill>
                  <a:schemeClr val="accent2"/>
                </a:solidFill>
              </a:rPr>
              <a:t>In fact, this is the </a:t>
            </a:r>
            <a:r>
              <a:rPr lang="en-US" sz="1500" i="1" dirty="0">
                <a:solidFill>
                  <a:schemeClr val="accent2"/>
                </a:solidFill>
              </a:rPr>
              <a:t>definition</a:t>
            </a:r>
            <a:r>
              <a:rPr lang="en-US" sz="1500" dirty="0">
                <a:solidFill>
                  <a:schemeClr val="accent2"/>
                </a:solidFill>
              </a:rPr>
              <a:t> of a conditional probability</a:t>
            </a:r>
          </a:p>
        </p:txBody>
      </p:sp>
      <p:pic>
        <p:nvPicPr>
          <p:cNvPr id="12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7" y="2912269"/>
            <a:ext cx="1779984" cy="54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Group 7"/>
          <p:cNvGraphicFramePr>
            <a:graphicFrameLocks noGrp="1"/>
          </p:cNvGraphicFramePr>
          <p:nvPr/>
        </p:nvGraphicFramePr>
        <p:xfrm>
          <a:off x="571500" y="4289822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343" name="Group 21"/>
          <p:cNvGrpSpPr>
            <a:grpSpLocks/>
          </p:cNvGrpSpPr>
          <p:nvPr/>
        </p:nvGrpSpPr>
        <p:grpSpPr bwMode="auto">
          <a:xfrm>
            <a:off x="4515862" y="2848867"/>
            <a:ext cx="1647825" cy="954116"/>
            <a:chOff x="5105400" y="2512724"/>
            <a:chExt cx="2895600" cy="1676400"/>
          </a:xfrm>
        </p:grpSpPr>
        <p:sp>
          <p:nvSpPr>
            <p:cNvPr id="13347" name="Oval 33"/>
            <p:cNvSpPr>
              <a:spLocks noChangeArrowheads="1"/>
            </p:cNvSpPr>
            <p:nvPr/>
          </p:nvSpPr>
          <p:spPr bwMode="auto">
            <a:xfrm>
              <a:off x="5105400" y="2512724"/>
              <a:ext cx="1828800" cy="1676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Oval 34"/>
            <p:cNvSpPr>
              <a:spLocks noChangeArrowheads="1"/>
            </p:cNvSpPr>
            <p:nvPr/>
          </p:nvSpPr>
          <p:spPr bwMode="auto">
            <a:xfrm>
              <a:off x="6172200" y="2512724"/>
              <a:ext cx="1828800" cy="1676400"/>
            </a:xfrm>
            <a:prstGeom prst="ellipse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" name="Picture 2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9" y="4000500"/>
            <a:ext cx="884634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1249" y="4521476"/>
            <a:ext cx="2452206" cy="23514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15977" y="2549780"/>
            <a:ext cx="2381140" cy="161598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72830" y="3842597"/>
            <a:ext cx="4988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rgbClr val="FF9786"/>
                </a:solidFill>
                <a:latin typeface="Calibri"/>
                <a:cs typeface="Calibri"/>
              </a:rPr>
              <a:t>P(b)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5009" y="3820782"/>
            <a:ext cx="4988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accent2"/>
                </a:solidFill>
                <a:latin typeface="Calibri"/>
                <a:cs typeface="Calibri"/>
              </a:rPr>
              <a:t>P(a)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927" y="2574256"/>
            <a:ext cx="6463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rgbClr val="E57071"/>
                </a:solidFill>
                <a:latin typeface="Calibri"/>
                <a:cs typeface="Calibri"/>
              </a:rPr>
              <a:t>P(</a:t>
            </a:r>
            <a:r>
              <a:rPr lang="en-US" sz="1500" i="1" dirty="0" err="1">
                <a:solidFill>
                  <a:srgbClr val="E57071"/>
                </a:solidFill>
                <a:latin typeface="Calibri"/>
                <a:cs typeface="Calibri"/>
              </a:rPr>
              <a:t>a,b</a:t>
            </a:r>
            <a:r>
              <a:rPr lang="en-US" sz="1500" i="1" dirty="0">
                <a:solidFill>
                  <a:srgbClr val="E57071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15" name="Picture 14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1163" y="4372115"/>
            <a:ext cx="2127485" cy="54866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6" name="Picture 15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84836" y="4384354"/>
            <a:ext cx="627048" cy="4926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24" name="Picture 23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9077" y="4549684"/>
            <a:ext cx="615851" cy="1679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26" name="Picture 25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5746" y="5209353"/>
            <a:ext cx="4232576" cy="2239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28" name="Picture 27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0819" y="5587314"/>
            <a:ext cx="1276491" cy="1903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0" name="Picture 9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94518" y="5591046"/>
            <a:ext cx="604654" cy="1679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sp>
        <p:nvSpPr>
          <p:cNvPr id="11" name="Rectangular Callout 10"/>
          <p:cNvSpPr/>
          <p:nvPr/>
        </p:nvSpPr>
        <p:spPr>
          <a:xfrm>
            <a:off x="3588717" y="5135347"/>
            <a:ext cx="4515660" cy="748457"/>
          </a:xfrm>
          <a:prstGeom prst="wedgeRectCallout">
            <a:avLst>
              <a:gd name="adj1" fmla="val -1035"/>
              <a:gd name="adj2" fmla="val -81872"/>
            </a:avLst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308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Normalization Trick</a:t>
            </a:r>
          </a:p>
        </p:txBody>
      </p:sp>
      <p:graphicFrame>
        <p:nvGraphicFramePr>
          <p:cNvPr id="15" name="Group 7"/>
          <p:cNvGraphicFramePr>
            <a:graphicFrameLocks noGrp="1"/>
          </p:cNvGraphicFramePr>
          <p:nvPr/>
        </p:nvGraphicFramePr>
        <p:xfrm>
          <a:off x="227940" y="3183860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7297" y="4440586"/>
            <a:ext cx="1431831" cy="1634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30" name="Picture 29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3270" y="4758892"/>
            <a:ext cx="2972606" cy="3884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051684" name="Picture 1051683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6231" y="4328910"/>
            <a:ext cx="1470740" cy="3884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051687" name="Picture 1051686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3840" y="5222991"/>
            <a:ext cx="1385141" cy="3646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6" name="Picture 15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84" y="2820116"/>
            <a:ext cx="950600" cy="24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3665" y="2346625"/>
            <a:ext cx="1466133" cy="1673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8" name="Picture 17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86112" y="2668336"/>
            <a:ext cx="3043820" cy="390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21" name="Picture 20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0563" y="2231011"/>
            <a:ext cx="1513943" cy="390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24" name="Picture 23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6487" y="3083465"/>
            <a:ext cx="1418324" cy="3665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graphicFrame>
        <p:nvGraphicFramePr>
          <p:cNvPr id="58" name="Group 46"/>
          <p:cNvGraphicFramePr>
            <a:graphicFrameLocks noGrp="1"/>
          </p:cNvGraphicFramePr>
          <p:nvPr/>
        </p:nvGraphicFramePr>
        <p:xfrm>
          <a:off x="7684591" y="3602223"/>
          <a:ext cx="1185863" cy="89154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51682" name="Picture 1051681" descr="txp_fi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68008" y="3255751"/>
            <a:ext cx="1309449" cy="2350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2843260" y="3835667"/>
            <a:ext cx="4329394" cy="238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1B1940-1DC8-4A1D-ACE9-212460B7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20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Normalization Trick</a:t>
            </a:r>
          </a:p>
        </p:txBody>
      </p:sp>
      <p:graphicFrame>
        <p:nvGraphicFramePr>
          <p:cNvPr id="15" name="Group 7"/>
          <p:cNvGraphicFramePr>
            <a:graphicFrameLocks noGrp="1"/>
          </p:cNvGraphicFramePr>
          <p:nvPr/>
        </p:nvGraphicFramePr>
        <p:xfrm>
          <a:off x="227940" y="2775620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" name="Picture 15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84" y="2411876"/>
            <a:ext cx="950600" cy="24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8" name="Group 46"/>
          <p:cNvGraphicFramePr>
            <a:graphicFrameLocks noGrp="1"/>
          </p:cNvGraphicFramePr>
          <p:nvPr/>
        </p:nvGraphicFramePr>
        <p:xfrm>
          <a:off x="7684591" y="3096783"/>
          <a:ext cx="1185863" cy="89154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51682" name="Picture 1051681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68008" y="2750311"/>
            <a:ext cx="1309449" cy="2350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19" name="Line 30"/>
          <p:cNvSpPr>
            <a:spLocks noChangeShapeType="1"/>
          </p:cNvSpPr>
          <p:nvPr/>
        </p:nvSpPr>
        <p:spPr bwMode="auto">
          <a:xfrm flipV="1">
            <a:off x="2903894" y="3462210"/>
            <a:ext cx="769905" cy="40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0" name="Group 31"/>
          <p:cNvGraphicFramePr>
            <a:graphicFrameLocks noGrp="1"/>
          </p:cNvGraphicFramePr>
          <p:nvPr/>
        </p:nvGraphicFramePr>
        <p:xfrm>
          <a:off x="3981363" y="3138311"/>
          <a:ext cx="1441864" cy="891540"/>
        </p:xfrm>
        <a:graphic>
          <a:graphicData uri="http://schemas.openxmlformats.org/drawingml/2006/table">
            <a:tbl>
              <a:tblPr/>
              <a:tblGrid>
                <a:gridCol w="472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marL="68556" marR="68556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56" marR="68556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marL="68556" marR="68556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56" marR="68556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Line 45"/>
          <p:cNvSpPr>
            <a:spLocks noChangeShapeType="1"/>
          </p:cNvSpPr>
          <p:nvPr/>
        </p:nvSpPr>
        <p:spPr bwMode="auto">
          <a:xfrm>
            <a:off x="5810807" y="3429487"/>
            <a:ext cx="875894" cy="680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2454825" y="2378462"/>
            <a:ext cx="1646612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ctr" eaLnBrk="1" hangingPunct="1">
              <a:spcBef>
                <a:spcPct val="50000"/>
              </a:spcBef>
            </a:pP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SELECT</a:t>
            </a:r>
            <a:r>
              <a:rPr lang="en-US" sz="15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the joint probabilities matching the 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evidence</a:t>
            </a:r>
          </a:p>
          <a:p>
            <a:pPr eaLnBrk="1" hangingPunct="1">
              <a:spcBef>
                <a:spcPct val="50000"/>
              </a:spcBef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8" name="Picture 27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1857" y="2833512"/>
            <a:ext cx="839657" cy="2239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29" name="Text Box 60"/>
          <p:cNvSpPr txBox="1">
            <a:spLocks noChangeArrowheads="1"/>
          </p:cNvSpPr>
          <p:nvPr/>
        </p:nvSpPr>
        <p:spPr bwMode="auto">
          <a:xfrm>
            <a:off x="5073340" y="2415001"/>
            <a:ext cx="2151149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lnSpc>
                <a:spcPct val="90000"/>
              </a:lnSpc>
            </a:pP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NORMALIZE</a:t>
            </a:r>
            <a:r>
              <a:rPr lang="en-US" sz="1500" b="1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the selection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en-US" sz="1500" dirty="0">
                <a:latin typeface="Calibri"/>
                <a:cs typeface="Calibri"/>
              </a:rPr>
              <a:t>(make it sum to 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one</a:t>
            </a:r>
            <a:r>
              <a:rPr lang="en-US" sz="1500" dirty="0">
                <a:latin typeface="Calibri"/>
                <a:cs typeface="Calibri"/>
              </a:rPr>
              <a:t>)</a:t>
            </a:r>
          </a:p>
          <a:p>
            <a:pPr algn="ctr" eaLnBrk="1" hangingPunct="1">
              <a:spcBef>
                <a:spcPct val="50000"/>
              </a:spcBef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Rectangle 3"/>
          <p:cNvSpPr>
            <a:spLocks noGrp="1" noChangeArrowheads="1"/>
          </p:cNvSpPr>
          <p:nvPr>
            <p:ph idx="1"/>
          </p:nvPr>
        </p:nvSpPr>
        <p:spPr>
          <a:xfrm>
            <a:off x="297544" y="4597561"/>
            <a:ext cx="7205557" cy="4392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Why does this work? Sum of selection is P(evidence)!  (P(T=c), here)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 </a:t>
            </a:r>
          </a:p>
        </p:txBody>
      </p:sp>
      <p:pic>
        <p:nvPicPr>
          <p:cNvPr id="31" name="Picture 67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814" y="5112976"/>
            <a:ext cx="4188619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9B470-F119-456C-8A75-AC19FE4B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365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Student Participation: Normalization Trick</a:t>
            </a:r>
          </a:p>
        </p:txBody>
      </p:sp>
      <p:graphicFrame>
        <p:nvGraphicFramePr>
          <p:cNvPr id="15" name="Group 7"/>
          <p:cNvGraphicFramePr>
            <a:graphicFrameLocks noGrp="1"/>
          </p:cNvGraphicFramePr>
          <p:nvPr/>
        </p:nvGraphicFramePr>
        <p:xfrm>
          <a:off x="227940" y="3085856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117" y="2722112"/>
            <a:ext cx="926534" cy="2406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P(X= +x | Y=-y)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25217D-1798-4380-BDF5-22EDA9C3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86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Student Participation: Normalization Trick</a:t>
            </a:r>
          </a:p>
        </p:txBody>
      </p:sp>
      <p:graphicFrame>
        <p:nvGraphicFramePr>
          <p:cNvPr id="15" name="Group 7"/>
          <p:cNvGraphicFramePr>
            <a:graphicFrameLocks noGrp="1"/>
          </p:cNvGraphicFramePr>
          <p:nvPr/>
        </p:nvGraphicFramePr>
        <p:xfrm>
          <a:off x="227940" y="3085856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117" y="2722112"/>
            <a:ext cx="926534" cy="2406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19" name="Line 30"/>
          <p:cNvSpPr>
            <a:spLocks noChangeShapeType="1"/>
          </p:cNvSpPr>
          <p:nvPr/>
        </p:nvSpPr>
        <p:spPr bwMode="auto">
          <a:xfrm flipV="1">
            <a:off x="2903894" y="3772447"/>
            <a:ext cx="769905" cy="40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5"/>
          <p:cNvSpPr>
            <a:spLocks noChangeShapeType="1"/>
          </p:cNvSpPr>
          <p:nvPr/>
        </p:nvSpPr>
        <p:spPr bwMode="auto">
          <a:xfrm>
            <a:off x="6028517" y="3739724"/>
            <a:ext cx="875894" cy="680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2454825" y="2688699"/>
            <a:ext cx="1646612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ctr" eaLnBrk="1" hangingPunct="1">
              <a:spcBef>
                <a:spcPct val="50000"/>
              </a:spcBef>
            </a:pPr>
            <a:r>
              <a:rPr lang="en-US" sz="1500" b="1" dirty="0">
                <a:latin typeface="Calibri"/>
                <a:cs typeface="Calibri"/>
              </a:rPr>
              <a:t>SELECT</a:t>
            </a:r>
            <a:r>
              <a:rPr lang="en-US" sz="1500" dirty="0">
                <a:latin typeface="Calibri"/>
                <a:cs typeface="Calibri"/>
              </a:rPr>
              <a:t> the joint probabilities matching the evidence</a:t>
            </a:r>
          </a:p>
          <a:p>
            <a:pPr eaLnBrk="1" hangingPunct="1">
              <a:spcBef>
                <a:spcPct val="50000"/>
              </a:spcBef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 Box 60"/>
          <p:cNvSpPr txBox="1">
            <a:spLocks noChangeArrowheads="1"/>
          </p:cNvSpPr>
          <p:nvPr/>
        </p:nvSpPr>
        <p:spPr bwMode="auto">
          <a:xfrm>
            <a:off x="5242066" y="2725238"/>
            <a:ext cx="2151149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algn="ctr" eaLnBrk="1" hangingPunct="1">
              <a:lnSpc>
                <a:spcPct val="90000"/>
              </a:lnSpc>
            </a:pPr>
            <a:r>
              <a:rPr lang="en-US" sz="1500" b="1" dirty="0">
                <a:latin typeface="Calibri"/>
                <a:cs typeface="Calibri"/>
              </a:rPr>
              <a:t>NORMALIZE </a:t>
            </a:r>
            <a:r>
              <a:rPr lang="en-US" sz="1500" dirty="0">
                <a:latin typeface="Calibri"/>
                <a:cs typeface="Calibri"/>
              </a:rPr>
              <a:t>the selection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en-US" sz="1500" dirty="0">
                <a:latin typeface="Calibri"/>
                <a:cs typeface="Calibri"/>
              </a:rPr>
              <a:t>(make it sum to one)</a:t>
            </a:r>
          </a:p>
          <a:p>
            <a:pPr algn="ctr" eaLnBrk="1" hangingPunct="1">
              <a:spcBef>
                <a:spcPct val="50000"/>
              </a:spcBef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P(X | Y=-y)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25217D-1798-4380-BDF5-22EDA9C3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375635" y="3473529"/>
            <a:ext cx="11929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  <a:p>
            <a:r>
              <a:rPr lang="en-US" dirty="0"/>
              <a:t>0.1</a:t>
            </a:r>
          </a:p>
          <a:p>
            <a:r>
              <a:rPr lang="en-US" dirty="0"/>
              <a:t>---</a:t>
            </a:r>
          </a:p>
          <a:p>
            <a:r>
              <a:rPr lang="en-US" dirty="0"/>
              <a:t>0.4 = P(-y)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7242" y="3228641"/>
            <a:ext cx="8258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0.3/0.4</a:t>
            </a:r>
          </a:p>
          <a:p>
            <a:r>
              <a:rPr lang="en-US" dirty="0"/>
              <a:t>0.1/0.4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055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work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idx="1"/>
          </p:nvPr>
        </p:nvSpPr>
        <p:spPr>
          <a:xfrm>
            <a:off x="3156857" y="1863587"/>
            <a:ext cx="4453395" cy="384324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/>
              <a:t>P(+c | +m) ?</a:t>
            </a:r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800" dirty="0"/>
              <a:t>P(-c | +m) ?</a:t>
            </a:r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>
              <a:lnSpc>
                <a:spcPct val="80000"/>
              </a:lnSpc>
            </a:pPr>
            <a:r>
              <a:rPr lang="en-US" sz="1800" dirty="0"/>
              <a:t>P(-m | +c) ?</a:t>
            </a:r>
          </a:p>
          <a:p>
            <a:pPr marL="342882" lvl="1" indent="0" eaLnBrk="1" hangingPunct="1">
              <a:lnSpc>
                <a:spcPct val="80000"/>
              </a:lnSpc>
              <a:buNone/>
            </a:pPr>
            <a:endParaRPr lang="en-US" sz="1500" dirty="0"/>
          </a:p>
          <a:p>
            <a:pPr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500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1E9398-E74A-4095-9499-8B509EE5D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475328"/>
              </p:ext>
            </p:extLst>
          </p:nvPr>
        </p:nvGraphicFramePr>
        <p:xfrm>
          <a:off x="238348" y="1931011"/>
          <a:ext cx="259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383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827383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  <a:gridCol w="936034">
                  <a:extLst>
                    <a:ext uri="{9D8B030D-6E8A-4147-A177-3AD203B41FA5}">
                      <a16:colId xmlns:a16="http://schemas.microsoft.com/office/drawing/2014/main" val="2255233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P(C,M)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854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38434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0.891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68462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25A89AD-EE9E-4A62-A576-0F702D442543}" type="slidenum">
              <a:rPr lang="en-US" altLang="en-US"/>
              <a:pPr eaLnBrk="1" hangingPunct="1"/>
              <a:t>21</a:t>
            </a:fld>
            <a:endParaRPr lang="en-US" altLang="en-US" dirty="0"/>
          </a:p>
        </p:txBody>
      </p:sp>
      <p:sp>
        <p:nvSpPr>
          <p:cNvPr id="61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543800" cy="685800"/>
          </a:xfrm>
        </p:spPr>
        <p:txBody>
          <a:bodyPr/>
          <a:lstStyle/>
          <a:p>
            <a:pPr eaLnBrk="1" hangingPunct="1"/>
            <a:r>
              <a:rPr lang="en-US" sz="3200" dirty="0"/>
              <a:t>Exercise Questions for Probability</a:t>
            </a:r>
          </a:p>
        </p:txBody>
      </p:sp>
      <p:sp>
        <p:nvSpPr>
          <p:cNvPr id="6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4582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200" b="1" dirty="0">
                <a:solidFill>
                  <a:srgbClr val="0070C0"/>
                </a:solidFill>
              </a:rPr>
              <a:t>Scenario</a:t>
            </a:r>
            <a:r>
              <a:rPr lang="en-US" sz="2200" dirty="0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We toss a </a:t>
            </a:r>
            <a:r>
              <a:rPr lang="en-US" sz="2000" b="1" dirty="0"/>
              <a:t>fair coin three</a:t>
            </a:r>
            <a:r>
              <a:rPr lang="en-US" sz="2000" dirty="0"/>
              <a:t> </a:t>
            </a:r>
            <a:r>
              <a:rPr lang="en-US" sz="2000" b="1" dirty="0"/>
              <a:t>successive</a:t>
            </a:r>
            <a:r>
              <a:rPr lang="en-US" sz="2000" dirty="0"/>
              <a:t> times. What is the probability of seeing </a:t>
            </a:r>
            <a:r>
              <a:rPr lang="en-US" sz="2000" b="1" dirty="0"/>
              <a:t>more heads </a:t>
            </a:r>
            <a:r>
              <a:rPr lang="en-US" sz="2000" dirty="0"/>
              <a:t>than tails coming up when the </a:t>
            </a:r>
            <a:r>
              <a:rPr lang="en-US" sz="2000" b="1" dirty="0"/>
              <a:t>first toss is a head</a:t>
            </a:r>
            <a:r>
              <a:rPr lang="en-US" sz="2000" dirty="0"/>
              <a:t>?</a:t>
            </a:r>
          </a:p>
          <a:p>
            <a:pPr lvl="1" eaLnBrk="1" hangingPunct="1">
              <a:lnSpc>
                <a:spcPct val="80000"/>
              </a:lnSpc>
            </a:pPr>
            <a:endParaRPr lang="en-US" sz="1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Q1</a:t>
            </a:r>
            <a:r>
              <a:rPr lang="en-US" sz="2000" dirty="0"/>
              <a:t>: What is the sample space? </a:t>
            </a: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Q2</a:t>
            </a:r>
            <a:r>
              <a:rPr lang="en-US" sz="2000" dirty="0"/>
              <a:t>: What are the random variables?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Q3</a:t>
            </a:r>
            <a:r>
              <a:rPr lang="en-US" sz="2000" dirty="0"/>
              <a:t>: What are the events and the probabilities of each event?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Q4</a:t>
            </a:r>
            <a:r>
              <a:rPr lang="en-US" sz="2000" dirty="0"/>
              <a:t>: What are the conditional probabilities?</a:t>
            </a:r>
          </a:p>
        </p:txBody>
      </p:sp>
      <p:sp>
        <p:nvSpPr>
          <p:cNvPr id="6157" name="Rectangle 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8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9" name="Rectangle 9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0" name="Rectangle 11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2" name="Rectangle 1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72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25A89AD-EE9E-4A62-A576-0F702D442543}" type="slidenum">
              <a:rPr lang="en-US" altLang="en-US"/>
              <a:pPr eaLnBrk="1" hangingPunct="1"/>
              <a:t>22</a:t>
            </a:fld>
            <a:endParaRPr lang="en-US" altLang="en-US" dirty="0"/>
          </a:p>
        </p:txBody>
      </p:sp>
      <p:sp>
        <p:nvSpPr>
          <p:cNvPr id="61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543800" cy="685800"/>
          </a:xfrm>
        </p:spPr>
        <p:txBody>
          <a:bodyPr/>
          <a:lstStyle/>
          <a:p>
            <a:pPr eaLnBrk="1" hangingPunct="1"/>
            <a:r>
              <a:rPr lang="en-US" sz="3200" dirty="0"/>
              <a:t>Exercise Questions for Probability</a:t>
            </a:r>
          </a:p>
        </p:txBody>
      </p:sp>
      <p:sp>
        <p:nvSpPr>
          <p:cNvPr id="6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4582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200" b="1" dirty="0">
                <a:solidFill>
                  <a:srgbClr val="0070C0"/>
                </a:solidFill>
              </a:rPr>
              <a:t>Scenario</a:t>
            </a:r>
            <a:r>
              <a:rPr lang="en-US" sz="2200" dirty="0"/>
              <a:t>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We toss a </a:t>
            </a:r>
            <a:r>
              <a:rPr lang="en-US" sz="2000" b="1" dirty="0"/>
              <a:t>fair coin three</a:t>
            </a:r>
            <a:r>
              <a:rPr lang="en-US" sz="2000" dirty="0"/>
              <a:t> </a:t>
            </a:r>
            <a:r>
              <a:rPr lang="en-US" sz="2000" b="1" dirty="0"/>
              <a:t>successive</a:t>
            </a:r>
            <a:r>
              <a:rPr lang="en-US" sz="2000" dirty="0"/>
              <a:t> times. What is the probability of seeing </a:t>
            </a:r>
            <a:r>
              <a:rPr lang="en-US" sz="2000" b="1" dirty="0"/>
              <a:t>more heads </a:t>
            </a:r>
            <a:r>
              <a:rPr lang="en-US" sz="2000" dirty="0"/>
              <a:t>than tails coming up when the </a:t>
            </a:r>
            <a:r>
              <a:rPr lang="en-US" sz="2000" b="1" dirty="0"/>
              <a:t>first toss is a head</a:t>
            </a:r>
            <a:r>
              <a:rPr lang="en-US" sz="2000" dirty="0"/>
              <a:t>?</a:t>
            </a:r>
          </a:p>
          <a:p>
            <a:pPr lvl="1" eaLnBrk="1" hangingPunct="1">
              <a:lnSpc>
                <a:spcPct val="80000"/>
              </a:lnSpc>
            </a:pPr>
            <a:endParaRPr lang="en-US" sz="1000" dirty="0"/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Q1</a:t>
            </a:r>
            <a:r>
              <a:rPr lang="en-US" sz="2000" dirty="0"/>
              <a:t>: What is the sample space?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{(HHH),(HHT),(HTT),(THH),(TTH),(THT),(HTH),(TTT)}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Q3</a:t>
            </a:r>
            <a:r>
              <a:rPr lang="en-US" sz="2000" dirty="0"/>
              <a:t>: What are the random variables?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seeing </a:t>
            </a:r>
            <a:r>
              <a:rPr lang="en-US" sz="1600" b="1" dirty="0"/>
              <a:t>more heads </a:t>
            </a:r>
            <a:r>
              <a:rPr lang="en-US" sz="1600" dirty="0"/>
              <a:t>than tails coming up: </a:t>
            </a:r>
            <a:r>
              <a:rPr lang="en-US" sz="1600" b="1" dirty="0"/>
              <a:t>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the </a:t>
            </a:r>
            <a:r>
              <a:rPr lang="en-US" sz="1600" b="1" dirty="0"/>
              <a:t>first toss is a head :B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Q2</a:t>
            </a:r>
            <a:r>
              <a:rPr lang="en-US" sz="2000" dirty="0"/>
              <a:t>: What are the events and the probabilities of each event?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(HHH): A=true, B=true  +a, +b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(HHT): A=true, B=true +a, +b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(HTT): -a, +b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(THH): +a, -b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(TTH): -a, -b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(THT): -a, -b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(HTH): +a, +b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(TTT): -a, -b</a:t>
            </a:r>
          </a:p>
          <a:p>
            <a:pPr lvl="1" eaLnBrk="1" hangingPunct="1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FF0000"/>
                </a:solidFill>
              </a:rPr>
              <a:t>Q4</a:t>
            </a:r>
            <a:r>
              <a:rPr lang="en-US" sz="2000" dirty="0"/>
              <a:t>: What are the conditional probabilities?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P(A=+</a:t>
            </a:r>
            <a:r>
              <a:rPr lang="en-US" sz="1600" dirty="0" err="1"/>
              <a:t>a|B</a:t>
            </a:r>
            <a:r>
              <a:rPr lang="en-US" sz="1600" dirty="0"/>
              <a:t>=+b) = ? </a:t>
            </a:r>
          </a:p>
        </p:txBody>
      </p:sp>
      <p:sp>
        <p:nvSpPr>
          <p:cNvPr id="6157" name="Rectangle 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8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9" name="Rectangle 9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0" name="Rectangle 11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2" name="Rectangle 1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35238"/>
              </p:ext>
            </p:extLst>
          </p:nvPr>
        </p:nvGraphicFramePr>
        <p:xfrm>
          <a:off x="4118264" y="4352636"/>
          <a:ext cx="3886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29964687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11413548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23094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94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81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79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004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05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834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488" y="2078809"/>
            <a:ext cx="5972501" cy="349595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6A02A-7ACB-466E-A734-DD044FAE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575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4C3A-107C-40AA-9840-0AD1BD56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Calculating conditional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124F-4064-4872-871C-1D6045C1C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30480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en-US" sz="2600" dirty="0"/>
              <a:t>In the real world, conditional probabilities are much more common than joint probabilities</a:t>
            </a:r>
          </a:p>
          <a:p>
            <a:pPr>
              <a:spcBef>
                <a:spcPts val="1200"/>
              </a:spcBef>
            </a:pPr>
            <a:r>
              <a:rPr lang="en-US" sz="2600" dirty="0"/>
              <a:t>Given one type of conditional prob, </a:t>
            </a:r>
            <a:r>
              <a:rPr lang="en-US" sz="2600" dirty="0">
                <a:solidFill>
                  <a:srgbClr val="C00000"/>
                </a:solidFill>
              </a:rPr>
              <a:t>p(A|B)</a:t>
            </a:r>
            <a:r>
              <a:rPr lang="en-US" sz="2600" dirty="0"/>
              <a:t>, want to calculate another type of conditional prob, </a:t>
            </a:r>
            <a:r>
              <a:rPr lang="en-US" sz="2600" dirty="0">
                <a:solidFill>
                  <a:srgbClr val="C00000"/>
                </a:solidFill>
              </a:rPr>
              <a:t>p(B|A)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sz="2600" dirty="0"/>
              <a:t>Get one conditional from its reverse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2600" dirty="0"/>
              <a:t>Often one conditional is tricky but the other one is simple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sz="2600" dirty="0"/>
              <a:t>Easier to know </a:t>
            </a:r>
            <a:r>
              <a:rPr lang="en-US" sz="2600" i="1" dirty="0"/>
              <a:t>effect given cause</a:t>
            </a:r>
            <a:r>
              <a:rPr lang="en-US" sz="2600" dirty="0"/>
              <a:t>, p(</a:t>
            </a:r>
            <a:r>
              <a:rPr lang="en-US" sz="2600" dirty="0" err="1"/>
              <a:t>effect|cause</a:t>
            </a:r>
            <a:r>
              <a:rPr lang="en-US" sz="2600" dirty="0"/>
              <a:t>)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sz="2600" dirty="0"/>
              <a:t>Harder: </a:t>
            </a:r>
            <a:r>
              <a:rPr lang="en-US" sz="2600" i="1" dirty="0"/>
              <a:t>cause given effect</a:t>
            </a:r>
            <a:r>
              <a:rPr lang="en-US" sz="2600" dirty="0"/>
              <a:t>, p(</a:t>
            </a:r>
            <a:r>
              <a:rPr lang="en-US" sz="2600" dirty="0" err="1"/>
              <a:t>cause|effect</a:t>
            </a:r>
            <a:r>
              <a:rPr lang="en-US" sz="2600" dirty="0"/>
              <a:t>)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4E962-EACF-4902-8D0D-7223275E64B7}"/>
              </a:ext>
            </a:extLst>
          </p:cNvPr>
          <p:cNvSpPr txBox="1"/>
          <p:nvPr/>
        </p:nvSpPr>
        <p:spPr>
          <a:xfrm>
            <a:off x="1582479" y="5326797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+mn-lt"/>
              </a:rPr>
              <a:t>p(A|B)</a:t>
            </a:r>
            <a:endParaRPr lang="en-US" sz="20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4E067-7678-4067-8C98-89855EA23EFA}"/>
              </a:ext>
            </a:extLst>
          </p:cNvPr>
          <p:cNvSpPr txBox="1"/>
          <p:nvPr/>
        </p:nvSpPr>
        <p:spPr>
          <a:xfrm>
            <a:off x="6078279" y="5326797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+mn-lt"/>
              </a:rPr>
              <a:t>p(B|A)</a:t>
            </a:r>
            <a:endParaRPr lang="en-US" sz="2000" dirty="0">
              <a:latin typeface="+mn-lt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EE041E2-823A-45AA-BFDB-D83C96340F90}"/>
              </a:ext>
            </a:extLst>
          </p:cNvPr>
          <p:cNvSpPr/>
          <p:nvPr/>
        </p:nvSpPr>
        <p:spPr>
          <a:xfrm>
            <a:off x="2534979" y="5326797"/>
            <a:ext cx="4572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2DA651E-3A0B-4C81-A39D-FA3DAC44C480}"/>
              </a:ext>
            </a:extLst>
          </p:cNvPr>
          <p:cNvSpPr/>
          <p:nvPr/>
        </p:nvSpPr>
        <p:spPr>
          <a:xfrm>
            <a:off x="5592726" y="5326797"/>
            <a:ext cx="45720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C0826-D236-4916-9961-B21541268B7A}"/>
              </a:ext>
            </a:extLst>
          </p:cNvPr>
          <p:cNvSpPr txBox="1"/>
          <p:nvPr/>
        </p:nvSpPr>
        <p:spPr>
          <a:xfrm>
            <a:off x="3733800" y="5105400"/>
            <a:ext cx="129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n-lt"/>
              </a:rPr>
              <a:t>?</a:t>
            </a:r>
            <a:endParaRPr lang="en-US" sz="48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A9FDD-772A-41CF-8F59-67C256609B8B}"/>
              </a:ext>
            </a:extLst>
          </p:cNvPr>
          <p:cNvSpPr txBox="1"/>
          <p:nvPr/>
        </p:nvSpPr>
        <p:spPr>
          <a:xfrm>
            <a:off x="3106479" y="4982289"/>
            <a:ext cx="2309038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+mn-lt"/>
              </a:rPr>
              <a:t>Joint probabilities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052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4C3A-107C-40AA-9840-0AD1BD56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Calculating conditional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E124F-4064-4872-871C-1D6045C1CA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38862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E124F-4064-4872-871C-1D6045C1C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38862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CABE5AB-355D-4399-A4C7-239156FDC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42772"/>
              </p:ext>
            </p:extLst>
          </p:nvPr>
        </p:nvGraphicFramePr>
        <p:xfrm>
          <a:off x="4704905" y="1600200"/>
          <a:ext cx="40102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562">
                  <a:extLst>
                    <a:ext uri="{9D8B030D-6E8A-4147-A177-3AD203B41FA5}">
                      <a16:colId xmlns:a16="http://schemas.microsoft.com/office/drawing/2014/main" val="87332579"/>
                    </a:ext>
                  </a:extLst>
                </a:gridCol>
                <a:gridCol w="1002562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1002562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  <a:gridCol w="1002562">
                  <a:extLst>
                    <a:ext uri="{9D8B030D-6E8A-4147-A177-3AD203B41FA5}">
                      <a16:colId xmlns:a16="http://schemas.microsoft.com/office/drawing/2014/main" val="2255233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P(C,M)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✓</a:t>
                      </a:r>
                    </a:p>
                  </a:txBody>
                  <a:tcPr marL="68580" marR="68580" marT="34290" marB="3429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0.001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854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✓</a:t>
                      </a:r>
                    </a:p>
                  </a:txBody>
                  <a:tcPr marL="68580" marR="68580" marT="34290" marB="3429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38434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-m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0.891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68462584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DB88309-F1B8-4F6B-BDA1-9D6BF600A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601167"/>
              </p:ext>
            </p:extLst>
          </p:nvPr>
        </p:nvGraphicFramePr>
        <p:xfrm>
          <a:off x="1656905" y="4572000"/>
          <a:ext cx="304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434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1182566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55233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P(+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m|C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P(-</a:t>
                      </a:r>
                      <a:r>
                        <a:rPr lang="en-US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m|C</a:t>
                      </a:r>
                      <a:r>
                        <a:rPr lang="en-US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+c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0.9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-c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38434897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92AB3F1-75F1-4C76-A171-E8D372AB8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458393"/>
              </p:ext>
            </p:extLst>
          </p:nvPr>
        </p:nvGraphicFramePr>
        <p:xfrm>
          <a:off x="5904610" y="4572000"/>
          <a:ext cx="203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434">
                  <a:extLst>
                    <a:ext uri="{9D8B030D-6E8A-4147-A177-3AD203B41FA5}">
                      <a16:colId xmlns:a16="http://schemas.microsoft.com/office/drawing/2014/main" val="3187087673"/>
                    </a:ext>
                  </a:extLst>
                </a:gridCol>
                <a:gridCol w="1182566">
                  <a:extLst>
                    <a:ext uri="{9D8B030D-6E8A-4147-A177-3AD203B41FA5}">
                      <a16:colId xmlns:a16="http://schemas.microsoft.com/office/drawing/2014/main" val="1585589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P(+c)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P(-c)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8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0.01</a:t>
                      </a:r>
                    </a:p>
                  </a:txBody>
                  <a:tcPr marL="68580" marR="6858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0.99</a:t>
                      </a:r>
                    </a:p>
                  </a:txBody>
                  <a:tcPr marL="68580" marR="68580" marT="34290" marB="34290" horzOverflow="overflow"/>
                </a:tc>
                <a:extLst>
                  <a:ext uri="{0D108BD9-81ED-4DB2-BD59-A6C34878D82A}">
                    <a16:rowId xmlns:a16="http://schemas.microsoft.com/office/drawing/2014/main" val="277460185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C8E000A-15AC-43F7-A796-EA5530C58A1A}"/>
              </a:ext>
            </a:extLst>
          </p:cNvPr>
          <p:cNvSpPr txBox="1"/>
          <p:nvPr/>
        </p:nvSpPr>
        <p:spPr>
          <a:xfrm>
            <a:off x="6168655" y="344376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Joint distribution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CF53C-0D8C-4554-B31E-4B371120603C}"/>
              </a:ext>
            </a:extLst>
          </p:cNvPr>
          <p:cNvSpPr txBox="1"/>
          <p:nvPr/>
        </p:nvSpPr>
        <p:spPr>
          <a:xfrm>
            <a:off x="1447801" y="5684520"/>
            <a:ext cx="31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Conditional distribution table</a:t>
            </a:r>
          </a:p>
          <a:p>
            <a:r>
              <a:rPr lang="en-US" i="1" dirty="0">
                <a:solidFill>
                  <a:srgbClr val="C00000"/>
                </a:solidFill>
              </a:rPr>
              <a:t>of  M conditioned on 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DF5F9-C5D1-491C-ADB7-F55C53A0645C}"/>
              </a:ext>
            </a:extLst>
          </p:cNvPr>
          <p:cNvSpPr txBox="1"/>
          <p:nvPr/>
        </p:nvSpPr>
        <p:spPr>
          <a:xfrm>
            <a:off x="5904610" y="5336024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A priori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A81917-7F4A-8394-62AA-63491F308A11}"/>
                  </a:ext>
                </a:extLst>
              </p:cNvPr>
              <p:cNvSpPr txBox="1"/>
              <p:nvPr/>
            </p:nvSpPr>
            <p:spPr>
              <a:xfrm>
                <a:off x="4953000" y="4953000"/>
                <a:ext cx="533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A81917-7F4A-8394-62AA-63491F308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953000"/>
                <a:ext cx="5334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973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Bayes’ Rule</a:t>
            </a:r>
          </a:p>
        </p:txBody>
      </p:sp>
      <p:sp>
        <p:nvSpPr>
          <p:cNvPr id="1017859" name="Rectangle 3"/>
          <p:cNvSpPr>
            <a:spLocks noGrp="1" noChangeArrowheads="1"/>
          </p:cNvSpPr>
          <p:nvPr>
            <p:ph idx="1"/>
          </p:nvPr>
        </p:nvSpPr>
        <p:spPr>
          <a:xfrm>
            <a:off x="520920" y="2057400"/>
            <a:ext cx="5994180" cy="38290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dirty="0"/>
              <a:t>Two ways to factor a joint distribution over two variables: </a:t>
            </a:r>
            <a:r>
              <a:rPr lang="en-US" sz="1800" b="1" dirty="0">
                <a:solidFill>
                  <a:srgbClr val="FF0000"/>
                </a:solidFill>
              </a:rPr>
              <a:t>p(x, y) = p(y, x)</a:t>
            </a:r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r>
              <a:rPr lang="en-US" sz="1800" dirty="0"/>
              <a:t>Dividing, we get:</a:t>
            </a:r>
          </a:p>
          <a:p>
            <a:pPr lvl="1" eaLnBrk="1" hangingPunct="1">
              <a:lnSpc>
                <a:spcPct val="80000"/>
              </a:lnSpc>
            </a:pPr>
            <a:endParaRPr lang="en-US" sz="15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lvl="6">
              <a:lnSpc>
                <a:spcPct val="80000"/>
              </a:lnSpc>
            </a:pPr>
            <a:endParaRPr lang="en-US" sz="900" dirty="0"/>
          </a:p>
          <a:p>
            <a:pPr eaLnBrk="1" hangingPunct="1">
              <a:lnSpc>
                <a:spcPct val="80000"/>
              </a:lnSpc>
            </a:pPr>
            <a:r>
              <a:rPr lang="en-US" sz="1900" dirty="0"/>
              <a:t>Lets us build one conditional from its reverse</a:t>
            </a:r>
          </a:p>
          <a:p>
            <a:pPr eaLnBrk="1" hangingPunct="1">
              <a:lnSpc>
                <a:spcPct val="80000"/>
              </a:lnSpc>
            </a:pPr>
            <a:r>
              <a:rPr lang="en-US" sz="1900" dirty="0"/>
              <a:t>Foundation of many systems</a:t>
            </a:r>
            <a:endParaRPr lang="en-US" sz="2200" dirty="0"/>
          </a:p>
          <a:p>
            <a:pPr eaLnBrk="1" hangingPunct="1">
              <a:lnSpc>
                <a:spcPct val="80000"/>
              </a:lnSpc>
            </a:pPr>
            <a:r>
              <a:rPr lang="en-US" sz="1800" dirty="0"/>
              <a:t>In the running for most important AI equation!</a:t>
            </a:r>
          </a:p>
        </p:txBody>
      </p:sp>
      <p:pic>
        <p:nvPicPr>
          <p:cNvPr id="101786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1" y="2813446"/>
            <a:ext cx="2327672" cy="23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7864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11627"/>
            <a:ext cx="2315766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7865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248" y="2813446"/>
            <a:ext cx="1510903" cy="23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7869" name="Picture 13" descr="Thomas Bayes">
            <a:hlinkClick r:id="rId9" tooltip="Thomas Bayes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121" y="2908544"/>
            <a:ext cx="2195304" cy="2353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0F677-9284-4F8E-868A-FA9F7D6B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0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20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352800"/>
            <a:ext cx="22288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52400" y="548173"/>
            <a:ext cx="7848600" cy="731838"/>
          </a:xfrm>
          <a:prstGeom prst="rect">
            <a:avLst/>
          </a:prstGeom>
        </p:spPr>
        <p:txBody>
          <a:bodyPr/>
          <a:lstStyle/>
          <a:p>
            <a:pPr lvl="0" eaLnBrk="0" hangingPunct="0">
              <a:defRPr/>
            </a:pPr>
            <a:r>
              <a:rPr lang="en-US" sz="29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Interpretation of Bayes rule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pPr>
              <a:defRPr/>
            </a:pPr>
            <a:fld id="{96346AA9-6681-4D83-858B-B56504F6A5F8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429000" y="3214749"/>
            <a:ext cx="5410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p(</a:t>
            </a:r>
            <a:r>
              <a:rPr lang="en-US" sz="1600" b="1" dirty="0" err="1">
                <a:solidFill>
                  <a:srgbClr val="7030A0"/>
                </a:solidFill>
              </a:rPr>
              <a:t>d|s</a:t>
            </a:r>
            <a:r>
              <a:rPr lang="en-US" sz="1600" b="1" dirty="0">
                <a:solidFill>
                  <a:srgbClr val="7030A0"/>
                </a:solidFill>
              </a:rPr>
              <a:t>)</a:t>
            </a:r>
            <a:r>
              <a:rPr lang="en-US" sz="1600" dirty="0"/>
              <a:t> means the probability of the disease </a:t>
            </a:r>
            <a:r>
              <a:rPr lang="en-US" sz="1600" b="1" dirty="0">
                <a:solidFill>
                  <a:srgbClr val="7030A0"/>
                </a:solidFill>
              </a:rPr>
              <a:t>d</a:t>
            </a:r>
            <a:r>
              <a:rPr lang="en-US" sz="1600" dirty="0"/>
              <a:t> given symptom </a:t>
            </a:r>
            <a:r>
              <a:rPr lang="en-US" sz="1600" b="1" dirty="0">
                <a:solidFill>
                  <a:srgbClr val="7030A0"/>
                </a:solidFill>
              </a:rPr>
              <a:t>s</a:t>
            </a:r>
            <a:r>
              <a:rPr lang="en-US" sz="1600" dirty="0"/>
              <a:t>. </a:t>
            </a:r>
          </a:p>
          <a:p>
            <a:r>
              <a:rPr lang="en-US" sz="1600" dirty="0"/>
              <a:t>In many cases, it is difficult to know </a:t>
            </a:r>
            <a:r>
              <a:rPr lang="en-US" sz="1600" b="1" dirty="0">
                <a:solidFill>
                  <a:srgbClr val="7030A0"/>
                </a:solidFill>
              </a:rPr>
              <a:t>p(</a:t>
            </a:r>
            <a:r>
              <a:rPr lang="en-US" sz="1600" b="1" dirty="0" err="1">
                <a:solidFill>
                  <a:srgbClr val="7030A0"/>
                </a:solidFill>
              </a:rPr>
              <a:t>d|s</a:t>
            </a:r>
            <a:r>
              <a:rPr lang="en-US" sz="1600" b="1" dirty="0">
                <a:solidFill>
                  <a:srgbClr val="7030A0"/>
                </a:solidFill>
              </a:rPr>
              <a:t>)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If we know what the </a:t>
            </a:r>
            <a:r>
              <a:rPr lang="en-US" sz="1600" b="1" dirty="0"/>
              <a:t>disease</a:t>
            </a:r>
            <a:r>
              <a:rPr lang="en-US" sz="1600" dirty="0"/>
              <a:t> (or </a:t>
            </a:r>
            <a:r>
              <a:rPr lang="en-US" sz="1600" dirty="0">
                <a:solidFill>
                  <a:srgbClr val="FF0000"/>
                </a:solidFill>
              </a:rPr>
              <a:t>cause</a:t>
            </a:r>
            <a:r>
              <a:rPr lang="en-US" sz="1600" dirty="0"/>
              <a:t>) is, telling those </a:t>
            </a:r>
            <a:r>
              <a:rPr lang="en-US" sz="1600" b="1" dirty="0"/>
              <a:t>symptoms</a:t>
            </a:r>
            <a:r>
              <a:rPr lang="en-US" sz="1600" dirty="0"/>
              <a:t> (or </a:t>
            </a:r>
            <a:r>
              <a:rPr lang="en-US" sz="1600" dirty="0">
                <a:solidFill>
                  <a:srgbClr val="FF0000"/>
                </a:solidFill>
              </a:rPr>
              <a:t>effect</a:t>
            </a:r>
            <a:r>
              <a:rPr lang="en-US" sz="1600" dirty="0"/>
              <a:t>) of the disease, is much </a:t>
            </a:r>
            <a:r>
              <a:rPr lang="en-US" sz="1600" b="1" dirty="0">
                <a:solidFill>
                  <a:srgbClr val="FF0000"/>
                </a:solidFill>
              </a:rPr>
              <a:t>easier</a:t>
            </a:r>
            <a:r>
              <a:rPr lang="en-US" sz="1600" dirty="0"/>
              <a:t> than figuring out a disease based on symptoms</a:t>
            </a:r>
          </a:p>
          <a:p>
            <a:endParaRPr lang="en-US" altLang="en-US" i="1" dirty="0"/>
          </a:p>
          <a:p>
            <a:r>
              <a:rPr lang="en-US" altLang="en-US" b="1" dirty="0"/>
              <a:t>s</a:t>
            </a:r>
            <a:r>
              <a:rPr lang="en-US" altLang="en-US" dirty="0"/>
              <a:t> can be the result of a medical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|+</a:t>
            </a:r>
            <a:r>
              <a:rPr lang="en-US" altLang="en-US" i="1" dirty="0"/>
              <a:t>d</a:t>
            </a:r>
            <a:r>
              <a:rPr lang="en-US" altLang="en-US" dirty="0"/>
              <a:t>) is test’s sensitivity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|-</a:t>
            </a:r>
            <a:r>
              <a:rPr lang="en-US" altLang="en-US" i="1" dirty="0"/>
              <a:t>d</a:t>
            </a:r>
            <a:r>
              <a:rPr lang="en-US" altLang="en-US" dirty="0"/>
              <a:t>) is test’s false positive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Sensitivity and false positive rate are given by the test’s manufacturer</a:t>
            </a:r>
          </a:p>
          <a:p>
            <a:r>
              <a:rPr lang="en-US" altLang="en-US" dirty="0"/>
              <a:t>p(d) is occurrence of disease</a:t>
            </a:r>
          </a:p>
          <a:p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85699" y="4516398"/>
            <a:ext cx="167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Bayes’ rule</a:t>
            </a:r>
            <a:endParaRPr lang="en-US" dirty="0"/>
          </a:p>
        </p:txBody>
      </p:sp>
      <p:cxnSp>
        <p:nvCxnSpPr>
          <p:cNvPr id="6" name="Straight Arrow Connector 5"/>
          <p:cNvCxnSpPr>
            <a:endCxn id="38920" idx="2"/>
          </p:cNvCxnSpPr>
          <p:nvPr/>
        </p:nvCxnSpPr>
        <p:spPr>
          <a:xfrm flipV="1">
            <a:off x="1580649" y="4162425"/>
            <a:ext cx="143376" cy="3539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105401" y="17526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Medical diagnosis system</a:t>
            </a:r>
            <a:r>
              <a:rPr lang="en-US" dirty="0"/>
              <a:t>: study the relationship between disease and symptom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3A8FA4-3974-5528-CEE2-B84D047C5BE9}"/>
              </a:ext>
            </a:extLst>
          </p:cNvPr>
          <p:cNvGrpSpPr/>
          <p:nvPr/>
        </p:nvGrpSpPr>
        <p:grpSpPr>
          <a:xfrm>
            <a:off x="228600" y="1362417"/>
            <a:ext cx="4981575" cy="1609383"/>
            <a:chOff x="228600" y="1362417"/>
            <a:chExt cx="4981575" cy="1609383"/>
          </a:xfrm>
        </p:grpSpPr>
        <p:pic>
          <p:nvPicPr>
            <p:cNvPr id="3891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600" y="1485900"/>
              <a:ext cx="4981575" cy="1485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1447800" y="1368432"/>
              <a:ext cx="780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Cause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71322" y="1362417"/>
              <a:ext cx="780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Effect</a:t>
              </a:r>
            </a:p>
          </p:txBody>
        </p:sp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60B9AB75-2CC7-1B9F-5EB8-C4E17B67BF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 l="68245" t="51037" r="19518" b="31015"/>
            <a:stretch>
              <a:fillRect/>
            </a:stretch>
          </p:blipFill>
          <p:spPr bwMode="auto">
            <a:xfrm>
              <a:off x="2354280" y="2049638"/>
              <a:ext cx="609600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ADEC57-0CDE-177D-8EE1-D6861ED71846}"/>
                </a:ext>
              </a:extLst>
            </p:cNvPr>
            <p:cNvSpPr txBox="1"/>
            <p:nvPr/>
          </p:nvSpPr>
          <p:spPr>
            <a:xfrm>
              <a:off x="2392381" y="19812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</a:rPr>
                <a:t>d,s</a:t>
              </a:r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8767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96711"/>
            <a:ext cx="6477000" cy="771481"/>
          </a:xfrm>
        </p:spPr>
        <p:txBody>
          <a:bodyPr/>
          <a:lstStyle/>
          <a:p>
            <a:pPr eaLnBrk="1" hangingPunct="1"/>
            <a:r>
              <a:rPr lang="en-US"/>
              <a:t>Inference with Bayes’ Rule</a:t>
            </a:r>
          </a:p>
        </p:txBody>
      </p:sp>
      <p:sp>
        <p:nvSpPr>
          <p:cNvPr id="1020931" name="Rectangle 3"/>
          <p:cNvSpPr>
            <a:spLocks noGrp="1" noChangeArrowheads="1"/>
          </p:cNvSpPr>
          <p:nvPr>
            <p:ph idx="1"/>
          </p:nvPr>
        </p:nvSpPr>
        <p:spPr>
          <a:xfrm>
            <a:off x="80058" y="1124139"/>
            <a:ext cx="8229600" cy="4411662"/>
          </a:xfrm>
        </p:spPr>
        <p:txBody>
          <a:bodyPr/>
          <a:lstStyle/>
          <a:p>
            <a:pPr eaLnBrk="1" hangingPunct="1"/>
            <a:r>
              <a:rPr lang="en-US" sz="1800" dirty="0"/>
              <a:t>Example: Diagnostic probability from causal probability: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Example:</a:t>
            </a:r>
          </a:p>
          <a:p>
            <a:pPr lvl="1" eaLnBrk="1" hangingPunct="1"/>
            <a:r>
              <a:rPr lang="en-US" sz="1500" dirty="0"/>
              <a:t>M: meningitis, S: stiff neck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lvl="4"/>
            <a:endParaRPr lang="en-US" sz="900" dirty="0"/>
          </a:p>
          <a:p>
            <a:pPr lvl="1" eaLnBrk="1" hangingPunct="1"/>
            <a:endParaRPr lang="en-US" sz="1500" dirty="0"/>
          </a:p>
          <a:p>
            <a:pPr lvl="1" eaLnBrk="1" hangingPunct="1"/>
            <a:endParaRPr lang="en-US" sz="1500" dirty="0"/>
          </a:p>
          <a:p>
            <a:pPr lvl="1" eaLnBrk="1" hangingPunct="1"/>
            <a:r>
              <a:rPr lang="en-US" sz="1600" dirty="0"/>
              <a:t>Note: posterior probability of meningitis still </a:t>
            </a:r>
            <a:r>
              <a:rPr lang="en-US" sz="1600" b="1" dirty="0"/>
              <a:t>very small</a:t>
            </a:r>
          </a:p>
          <a:p>
            <a:pPr lvl="1" eaLnBrk="1" hangingPunct="1"/>
            <a:r>
              <a:rPr lang="en-US" sz="1600" dirty="0"/>
              <a:t>Note: you should still get stiff necks checked out! Why?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5340254" y="2667000"/>
            <a:ext cx="179785" cy="75009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6" name="TextBox 14"/>
          <p:cNvSpPr txBox="1">
            <a:spLocks noChangeArrowheads="1"/>
          </p:cNvSpPr>
          <p:nvPr/>
        </p:nvSpPr>
        <p:spPr bwMode="auto">
          <a:xfrm>
            <a:off x="5612908" y="2794396"/>
            <a:ext cx="10703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Calibri" pitchFamily="34" charset="0"/>
                <a:cs typeface="Calibri" pitchFamily="34" charset="0"/>
              </a:rPr>
              <a:t>Example</a:t>
            </a:r>
          </a:p>
          <a:p>
            <a:pPr eaLnBrk="1" hangingPunct="1"/>
            <a:r>
              <a:rPr lang="en-US" dirty="0">
                <a:latin typeface="Calibri" pitchFamily="34" charset="0"/>
                <a:cs typeface="Calibri" pitchFamily="34" charset="0"/>
              </a:rPr>
              <a:t>givens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307" y="3234916"/>
            <a:ext cx="1935291" cy="243557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6" y="3772397"/>
            <a:ext cx="8353269" cy="425202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399" y="2673021"/>
            <a:ext cx="1671215" cy="237827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02" y="2936671"/>
            <a:ext cx="1785806" cy="23768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09" y="1629184"/>
            <a:ext cx="4084439" cy="534645"/>
          </a:xfrm>
          <a:prstGeom prst="rect">
            <a:avLst/>
          </a:prstGeom>
        </p:spPr>
      </p:pic>
      <p:sp>
        <p:nvSpPr>
          <p:cNvPr id="3" name="AutoShape 2" descr="an with severe headache and stiff neck due to brain inflammation. Close-up of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an with severe headache and stiff neck due to brain inflammation. Close-up of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290" y="4648200"/>
            <a:ext cx="3305235" cy="186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8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4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700" dirty="0"/>
              <a:t>Example Application of Bayes’ Theorem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2125266"/>
            <a:ext cx="7886700" cy="3263504"/>
          </a:xfrm>
        </p:spPr>
        <p:txBody>
          <a:bodyPr/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Consider a manufacturing firm that receives shipment of parts from two suppliers.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Let A=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1</a:t>
            </a:r>
            <a:r>
              <a:rPr lang="en-US" altLang="en-US" dirty="0"/>
              <a:t> denote the event that a part is received from supplier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A=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2</a:t>
            </a:r>
            <a:r>
              <a:rPr lang="en-US" altLang="en-US" baseline="-25000" dirty="0"/>
              <a:t> </a:t>
            </a:r>
            <a:r>
              <a:rPr lang="en-US" altLang="en-US" dirty="0"/>
              <a:t>is the event the part is received from supplier 2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29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438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j0282784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2000251"/>
            <a:ext cx="1943100" cy="18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3200400" y="1485900"/>
            <a:ext cx="3829050" cy="1028700"/>
          </a:xfrm>
          <a:prstGeom prst="wedgeEllipseCallout">
            <a:avLst>
              <a:gd name="adj1" fmla="val -65454"/>
              <a:gd name="adj2" fmla="val 5995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  <a:cs typeface="+mn-cs"/>
              </a:rPr>
              <a:t>We get 65% of our parts from supplier 1 and 35% from supplier 2.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371850" y="3314701"/>
            <a:ext cx="3200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Thus:</a:t>
            </a:r>
          </a:p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P(A=A</a:t>
            </a:r>
            <a:r>
              <a:rPr lang="en-US" altLang="en-US" baseline="-25000" dirty="0">
                <a:solidFill>
                  <a:prstClr val="black"/>
                </a:solidFill>
                <a:latin typeface="Calibri" panose="020F0502020204030204"/>
                <a:cs typeface="+mn-cs"/>
              </a:rPr>
              <a:t>1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) = .65   and P(A=A</a:t>
            </a:r>
            <a:r>
              <a:rPr lang="en-US" altLang="en-US" baseline="-25000" dirty="0">
                <a:solidFill>
                  <a:prstClr val="black"/>
                </a:solidFill>
                <a:latin typeface="Calibri" panose="020F0502020204030204"/>
                <a:cs typeface="+mn-cs"/>
              </a:rPr>
              <a:t>2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) = .35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72050" y="4657258"/>
            <a:ext cx="2481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Prior probabilities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87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1485900" y="857250"/>
            <a:ext cx="6172200" cy="857250"/>
          </a:xfrm>
        </p:spPr>
        <p:txBody>
          <a:bodyPr/>
          <a:lstStyle/>
          <a:p>
            <a:r>
              <a:rPr lang="en-US" altLang="en-US" sz="2700"/>
              <a:t>Quality levels differ between suppliers</a:t>
            </a:r>
          </a:p>
        </p:txBody>
      </p:sp>
      <p:graphicFrame>
        <p:nvGraphicFramePr>
          <p:cNvPr id="7203" name="Group 35"/>
          <p:cNvGraphicFramePr>
            <a:graphicFrameLocks noGrp="1"/>
          </p:cNvGraphicFramePr>
          <p:nvPr>
            <p:ph idx="1"/>
          </p:nvPr>
        </p:nvGraphicFramePr>
        <p:xfrm>
          <a:off x="2228850" y="1657350"/>
          <a:ext cx="4457700" cy="14859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Percentage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Good Parts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Percentage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Bad Parts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Supplier 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Supplier 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4" name="Text Box 36"/>
          <p:cNvSpPr txBox="1">
            <a:spLocks noChangeArrowheads="1"/>
          </p:cNvSpPr>
          <p:nvPr/>
        </p:nvSpPr>
        <p:spPr bwMode="auto">
          <a:xfrm>
            <a:off x="838199" y="3314701"/>
            <a:ext cx="7615919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  <a:cs typeface="+mn-cs"/>
              </a:rPr>
              <a:t>   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Let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Q=good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 denote that a part is good and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Q=bad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denote that a part is bad. </a:t>
            </a:r>
          </a:p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Thus, the conditional probabilities are  </a:t>
            </a:r>
          </a:p>
        </p:txBody>
      </p:sp>
      <p:sp>
        <p:nvSpPr>
          <p:cNvPr id="7205" name="Text Box 37"/>
          <p:cNvSpPr txBox="1">
            <a:spLocks noChangeArrowheads="1"/>
          </p:cNvSpPr>
          <p:nvPr/>
        </p:nvSpPr>
        <p:spPr bwMode="auto">
          <a:xfrm>
            <a:off x="1295400" y="4286250"/>
            <a:ext cx="4991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P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(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Q=good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|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altLang="en-US" i="1" baseline="-250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 ) = .98  and 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Q=bad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|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altLang="en-US" i="1" baseline="-250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 ) = .02</a:t>
            </a:r>
          </a:p>
        </p:txBody>
      </p:sp>
      <p:sp>
        <p:nvSpPr>
          <p:cNvPr id="7206" name="Text Box 38"/>
          <p:cNvSpPr txBox="1">
            <a:spLocks noChangeArrowheads="1"/>
          </p:cNvSpPr>
          <p:nvPr/>
        </p:nvSpPr>
        <p:spPr bwMode="auto">
          <a:xfrm>
            <a:off x="1295400" y="4831318"/>
            <a:ext cx="4724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P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(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Q=bad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|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altLang="en-US" i="1" baseline="-25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) = .95  and 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Q=bad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 | </a:t>
            </a:r>
            <a:r>
              <a:rPr lang="en-US" alt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altLang="en-US" i="1" baseline="-25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 ) = 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1762" y="4140557"/>
            <a:ext cx="1802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  <a:cs typeface="+mn-cs"/>
              </a:rPr>
              <a:t>Conditional probabilities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31</a:t>
            </a:fld>
            <a:endParaRPr lang="en-US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4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2-Supplier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A bad part broke one of our machines</a:t>
                </a:r>
              </a:p>
              <a:p>
                <a:r>
                  <a:rPr lang="en-US" altLang="en-US" dirty="0"/>
                  <a:t>What is the probability the part came from supplier 1?</a:t>
                </a:r>
              </a:p>
              <a:p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 ?</m:t>
                    </m:r>
                  </m:oMath>
                </a14:m>
                <a:endParaRPr lang="en-US" altLang="en-US" b="0" dirty="0"/>
              </a:p>
              <a:p>
                <a:r>
                  <a:rPr lang="en-US" altLang="en-US" i="1" dirty="0"/>
                  <a:t>Posterior probabilities?</a:t>
                </a:r>
              </a:p>
              <a:p>
                <a:endParaRPr lang="en-US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202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2-Supplier Problem</a:t>
            </a:r>
          </a:p>
        </p:txBody>
      </p:sp>
      <p:graphicFrame>
        <p:nvGraphicFramePr>
          <p:cNvPr id="38032" name="Group 1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297657"/>
              </p:ext>
            </p:extLst>
          </p:nvPr>
        </p:nvGraphicFramePr>
        <p:xfrm>
          <a:off x="1485901" y="2057400"/>
          <a:ext cx="6591298" cy="3034903"/>
        </p:xfrm>
        <a:graphic>
          <a:graphicData uri="http://schemas.openxmlformats.org/drawingml/2006/table">
            <a:tbl>
              <a:tblPr/>
              <a:tblGrid>
                <a:gridCol w="760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01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kumimoji="0" lang="en-US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b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 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Conditional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P(Q=bad | 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Joint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Q=bad)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Posterior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  <a:b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| Q=bad)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.65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.0130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0130/.0305=.4262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.35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.0175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.0175/.0305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=.5738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P(Q=bad) =.0305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33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144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P(Q=bad) is sum of numerators</a:t>
                </a:r>
              </a:p>
              <a:p>
                <a:r>
                  <a:rPr lang="en-US" sz="2400" dirty="0"/>
                  <a:t>Called a </a:t>
                </a:r>
                <a:r>
                  <a:rPr lang="en-US" sz="2400" i="1" dirty="0"/>
                  <a:t>normalization factor</a:t>
                </a:r>
              </a:p>
              <a:p>
                <a:r>
                  <a:rPr lang="en-US" sz="2400" dirty="0"/>
                  <a:t>Even though we want only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We still calculate both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𝑏𝑎𝑑</m:t>
                        </m:r>
                      </m:e>
                    </m:d>
                  </m:oMath>
                </a14:m>
                <a:endParaRPr lang="en-US" altLang="en-US" sz="2000" dirty="0"/>
              </a:p>
              <a:p>
                <a:pPr lvl="1"/>
                <a:r>
                  <a:rPr lang="en-US" sz="2100" dirty="0"/>
                  <a:t>Because: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𝑏𝑎𝑑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𝑏𝑎𝑑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21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985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Classwork: Numerical Example: “Cancer”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Only 1 in 1000 people have </a:t>
            </a:r>
            <a:r>
              <a:rPr lang="en-US" altLang="en-US" b="1" dirty="0"/>
              <a:t>cancer</a:t>
            </a:r>
          </a:p>
          <a:p>
            <a:r>
              <a:rPr lang="en-US" altLang="en-US" dirty="0"/>
              <a:t>The True Positive Rate for a </a:t>
            </a:r>
            <a:r>
              <a:rPr lang="en-US" altLang="en-US" b="1" dirty="0"/>
              <a:t>cancer test </a:t>
            </a:r>
            <a:r>
              <a:rPr lang="en-US" altLang="en-US" dirty="0"/>
              <a:t>is 0.99</a:t>
            </a:r>
          </a:p>
          <a:p>
            <a:pPr lvl="1"/>
            <a:r>
              <a:rPr lang="en-US" altLang="en-US" dirty="0"/>
              <a:t>Probability that a test conducted on a </a:t>
            </a:r>
            <a:r>
              <a:rPr lang="en-US" altLang="en-US" dirty="0">
                <a:solidFill>
                  <a:srgbClr val="FF0000"/>
                </a:solidFill>
              </a:rPr>
              <a:t>cancer</a:t>
            </a:r>
            <a:r>
              <a:rPr lang="en-US" altLang="en-US" dirty="0"/>
              <a:t> patient is positive</a:t>
            </a:r>
          </a:p>
          <a:p>
            <a:r>
              <a:rPr lang="en-US" altLang="en-US" dirty="0"/>
              <a:t>The False Positive Rate for a </a:t>
            </a:r>
            <a:r>
              <a:rPr lang="en-US" altLang="en-US" b="1" dirty="0"/>
              <a:t>cancer test </a:t>
            </a:r>
            <a:r>
              <a:rPr lang="en-US" altLang="en-US" dirty="0"/>
              <a:t>is 0.02</a:t>
            </a:r>
          </a:p>
          <a:p>
            <a:pPr lvl="1"/>
            <a:r>
              <a:rPr lang="en-US" altLang="en-US" dirty="0"/>
              <a:t>Probability that a test conducted on a </a:t>
            </a:r>
            <a:r>
              <a:rPr lang="en-US" altLang="en-US" dirty="0">
                <a:solidFill>
                  <a:srgbClr val="FF0000"/>
                </a:solidFill>
              </a:rPr>
              <a:t>healthy</a:t>
            </a:r>
            <a:r>
              <a:rPr lang="en-US" altLang="en-US" dirty="0"/>
              <a:t> person is positive</a:t>
            </a:r>
          </a:p>
          <a:p>
            <a:r>
              <a:rPr lang="en-US" altLang="en-US" dirty="0"/>
              <a:t>If one randomly tested individual is positive, what is the probability they have cancer?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39AFA552-00EF-44CD-B685-28E57CF76041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35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383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Numerical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Cancer: +c, -c</a:t>
            </a:r>
          </a:p>
          <a:p>
            <a:pPr lvl="1"/>
            <a:r>
              <a:rPr lang="en-US" altLang="en-US" dirty="0"/>
              <a:t>“Only 1 in 1000 people have </a:t>
            </a:r>
            <a:r>
              <a:rPr lang="en-US" altLang="en-US" b="1" dirty="0"/>
              <a:t>cancer”</a:t>
            </a:r>
          </a:p>
          <a:p>
            <a:pPr lvl="2"/>
            <a:r>
              <a:rPr lang="en-US" dirty="0"/>
              <a:t>P(Cancer = +c) = 1/1000</a:t>
            </a:r>
          </a:p>
          <a:p>
            <a:pPr lvl="2"/>
            <a:r>
              <a:rPr lang="en-US" dirty="0"/>
              <a:t>P(+c) = 0.001</a:t>
            </a:r>
          </a:p>
          <a:p>
            <a:pPr lvl="1"/>
            <a:r>
              <a:rPr lang="en-US" dirty="0"/>
              <a:t>Test: +t, -t</a:t>
            </a:r>
          </a:p>
          <a:p>
            <a:pPr lvl="1"/>
            <a:r>
              <a:rPr lang="en-US" dirty="0"/>
              <a:t>“</a:t>
            </a:r>
            <a:r>
              <a:rPr lang="en-US" altLang="en-US" dirty="0"/>
              <a:t>The True Positive Rate for a </a:t>
            </a:r>
            <a:r>
              <a:rPr lang="en-US" altLang="en-US" b="1" dirty="0"/>
              <a:t>cancer test </a:t>
            </a:r>
            <a:r>
              <a:rPr lang="en-US" altLang="en-US" dirty="0"/>
              <a:t>is 0.99”</a:t>
            </a:r>
          </a:p>
          <a:p>
            <a:pPr lvl="2"/>
            <a:r>
              <a:rPr lang="en-US" altLang="en-US" dirty="0"/>
              <a:t>P(+t|+c) = 0.099</a:t>
            </a:r>
          </a:p>
          <a:p>
            <a:pPr lvl="1"/>
            <a:r>
              <a:rPr lang="en-US" altLang="en-US" dirty="0"/>
              <a:t>“The False Positive Rate for a </a:t>
            </a:r>
            <a:r>
              <a:rPr lang="en-US" altLang="en-US" b="1" dirty="0"/>
              <a:t>cancer test </a:t>
            </a:r>
            <a:r>
              <a:rPr lang="en-US" altLang="en-US" dirty="0"/>
              <a:t>is 0.02”</a:t>
            </a:r>
          </a:p>
          <a:p>
            <a:pPr lvl="2"/>
            <a:r>
              <a:rPr lang="en-US" altLang="en-US" dirty="0"/>
              <a:t>P(+t|-c) = 0.02</a:t>
            </a:r>
          </a:p>
          <a:p>
            <a:r>
              <a:rPr lang="en-US" altLang="en-US" dirty="0"/>
              <a:t>Want?</a:t>
            </a:r>
          </a:p>
          <a:p>
            <a:pPr lvl="1"/>
            <a:r>
              <a:rPr lang="en-US" altLang="en-US" dirty="0"/>
              <a:t>P( +c| +t)?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2"/>
            <a:endParaRPr lang="en-US" alt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90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Numerical Example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Label events:</a:t>
            </a:r>
          </a:p>
          <a:p>
            <a:pPr lvl="1"/>
            <a:r>
              <a:rPr lang="en-US" altLang="en-US" dirty="0"/>
              <a:t>A = has disease	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o</a:t>
            </a:r>
            <a:r>
              <a:rPr lang="en-US" altLang="en-US" dirty="0"/>
              <a:t> = no disease</a:t>
            </a:r>
          </a:p>
          <a:p>
            <a:pPr lvl="1"/>
            <a:r>
              <a:rPr lang="en-US" altLang="en-US" dirty="0"/>
              <a:t>B = Positive test result	</a:t>
            </a:r>
          </a:p>
          <a:p>
            <a:r>
              <a:rPr lang="en-US" altLang="en-US" dirty="0"/>
              <a:t>Examine probabilities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)  = .001 		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o</a:t>
            </a:r>
            <a:r>
              <a:rPr lang="en-US" altLang="en-US" dirty="0"/>
              <a:t>)= .999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|</a:t>
            </a:r>
            <a:r>
              <a:rPr lang="en-US" altLang="en-US" i="1" dirty="0"/>
              <a:t>A</a:t>
            </a:r>
            <a:r>
              <a:rPr lang="en-US" altLang="en-US" dirty="0"/>
              <a:t>)  = .99		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B</a:t>
            </a:r>
            <a:r>
              <a:rPr lang="en-US" altLang="en-US" dirty="0" err="1"/>
              <a:t>|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o</a:t>
            </a:r>
            <a:r>
              <a:rPr lang="en-US" altLang="en-US" dirty="0"/>
              <a:t>)= .02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39AFA552-00EF-44CD-B685-28E57CF76041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37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1608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Tabular Approach to Bayes’ Theorem—</a:t>
            </a:r>
            <a:br>
              <a:rPr lang="en-US" altLang="en-US" sz="2400" dirty="0"/>
            </a:br>
            <a:r>
              <a:rPr lang="en-US" altLang="en-US" sz="2400" dirty="0"/>
              <a:t>Cancer</a:t>
            </a:r>
          </a:p>
        </p:txBody>
      </p:sp>
      <p:graphicFrame>
        <p:nvGraphicFramePr>
          <p:cNvPr id="38032" name="Group 1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854064"/>
              </p:ext>
            </p:extLst>
          </p:nvPr>
        </p:nvGraphicFramePr>
        <p:xfrm>
          <a:off x="1485901" y="2057400"/>
          <a:ext cx="6241257" cy="2973943"/>
        </p:xfrm>
        <a:graphic>
          <a:graphicData uri="http://schemas.openxmlformats.org/drawingml/2006/table">
            <a:tbl>
              <a:tblPr/>
              <a:tblGrid>
                <a:gridCol w="72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01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kumimoji="0" lang="en-US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b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 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Conditional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 | 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Joint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Posterior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  <a:b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|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38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064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Tabular Approach to Bayes’ Theorem—</a:t>
            </a:r>
            <a:br>
              <a:rPr lang="en-US" altLang="en-US" sz="2400" dirty="0"/>
            </a:br>
            <a:r>
              <a:rPr lang="en-US" altLang="en-US" sz="2400" dirty="0"/>
              <a:t>Cancer</a:t>
            </a:r>
          </a:p>
        </p:txBody>
      </p:sp>
      <p:graphicFrame>
        <p:nvGraphicFramePr>
          <p:cNvPr id="38032" name="Group 1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77213"/>
              </p:ext>
            </p:extLst>
          </p:nvPr>
        </p:nvGraphicFramePr>
        <p:xfrm>
          <a:off x="1485901" y="2057400"/>
          <a:ext cx="6241257" cy="2973943"/>
        </p:xfrm>
        <a:graphic>
          <a:graphicData uri="http://schemas.openxmlformats.org/drawingml/2006/table">
            <a:tbl>
              <a:tblPr/>
              <a:tblGrid>
                <a:gridCol w="72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01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kumimoji="0" lang="en-US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b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 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Conditional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 | 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Joint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Posterior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  <a:b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|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.001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39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6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Tabular Approach to Bayes’ Theorem—</a:t>
            </a:r>
            <a:br>
              <a:rPr lang="en-US" altLang="en-US" sz="2400" dirty="0"/>
            </a:br>
            <a:r>
              <a:rPr lang="en-US" altLang="en-US" sz="2400" dirty="0"/>
              <a:t>Cancer</a:t>
            </a:r>
          </a:p>
        </p:txBody>
      </p:sp>
      <p:graphicFrame>
        <p:nvGraphicFramePr>
          <p:cNvPr id="38032" name="Group 1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167176"/>
              </p:ext>
            </p:extLst>
          </p:nvPr>
        </p:nvGraphicFramePr>
        <p:xfrm>
          <a:off x="1485901" y="2057400"/>
          <a:ext cx="6241257" cy="2973943"/>
        </p:xfrm>
        <a:graphic>
          <a:graphicData uri="http://schemas.openxmlformats.org/drawingml/2006/table">
            <a:tbl>
              <a:tblPr/>
              <a:tblGrid>
                <a:gridCol w="72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01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kumimoji="0" lang="en-US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b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 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Conditional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 | 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Joint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Posterior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  <a:b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|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.001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.00099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dirty="0"/>
                        <a:t>.01998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P(B)=.02097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40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191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Tabular Approach to Bayes’ Theorem—</a:t>
            </a:r>
            <a:br>
              <a:rPr lang="en-US" altLang="en-US" sz="2400" dirty="0"/>
            </a:br>
            <a:r>
              <a:rPr lang="en-US" altLang="en-US" sz="2400" dirty="0"/>
              <a:t>Cancer</a:t>
            </a:r>
          </a:p>
        </p:txBody>
      </p:sp>
      <p:graphicFrame>
        <p:nvGraphicFramePr>
          <p:cNvPr id="38032" name="Group 1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637334"/>
              </p:ext>
            </p:extLst>
          </p:nvPr>
        </p:nvGraphicFramePr>
        <p:xfrm>
          <a:off x="1485901" y="2057400"/>
          <a:ext cx="6241257" cy="2973943"/>
        </p:xfrm>
        <a:graphic>
          <a:graphicData uri="http://schemas.openxmlformats.org/drawingml/2006/table">
            <a:tbl>
              <a:tblPr/>
              <a:tblGrid>
                <a:gridCol w="72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01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kumimoji="0" lang="en-US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(2)</a:t>
                      </a:r>
                      <a:b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Prior 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Conditional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 | 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Joint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Posterior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Probabilities</a:t>
                      </a:r>
                      <a:b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P(A</a:t>
                      </a:r>
                      <a:r>
                        <a:rPr kumimoji="0" lang="en-US" altLang="en-US" sz="15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 </a:t>
                      </a:r>
                      <a:r>
                        <a:rPr kumimoji="0" lang="en-US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| B)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.001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.00099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00099/.02097=.0472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.999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dirty="0"/>
                        <a:t>.01998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.01998/.02097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=.9528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P(B)=.02097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1.0000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0D2AC62C-E58B-415C-BA25-2625C8EEDD6F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41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9497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Law of Total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Take events A</a:t>
                </a:r>
                <a:r>
                  <a:rPr lang="en-US" altLang="en-US" baseline="-25000" dirty="0"/>
                  <a:t>i</a:t>
                </a:r>
                <a:r>
                  <a:rPr lang="en-US" altLang="en-US" dirty="0"/>
                  <a:t> for </a:t>
                </a:r>
                <a:r>
                  <a:rPr lang="en-US" altLang="en-US" dirty="0" err="1"/>
                  <a:t>i</a:t>
                </a:r>
                <a:r>
                  <a:rPr lang="en-US" altLang="en-US" dirty="0"/>
                  <a:t> = 1 to k to be:</a:t>
                </a:r>
              </a:p>
              <a:p>
                <a:pPr lvl="1"/>
                <a:r>
                  <a:rPr lang="en-US" altLang="en-US" dirty="0"/>
                  <a:t>Mutually exclusive: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Exhaustive: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For any event B on S</a:t>
                </a:r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Bayes rule</a:t>
                </a:r>
              </a:p>
            </p:txBody>
          </p:sp>
        </mc:Choice>
        <mc:Fallback xmlns="">
          <p:sp>
            <p:nvSpPr>
              <p:cNvPr id="32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77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76" name="Object 8"/>
              <p:cNvSpPr txBox="1"/>
              <p:nvPr>
                <p:ph sz="quarter" idx="4294967295"/>
              </p:nvPr>
            </p:nvSpPr>
            <p:spPr bwMode="auto">
              <a:xfrm>
                <a:off x="914400" y="3733800"/>
                <a:ext cx="3829050" cy="10175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|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|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77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914400" y="3733800"/>
                <a:ext cx="3829050" cy="1017588"/>
              </a:xfrm>
              <a:prstGeom prst="rect">
                <a:avLst/>
              </a:prstGeom>
              <a:blipFill>
                <a:blip r:embed="rId5"/>
                <a:stretch>
                  <a:fillRect t="-52410" b="-78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8400"/>
            <a:ext cx="2133600" cy="457200"/>
          </a:xfrm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18106A22-6EAC-4C21-A695-813185AA606C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42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72226" y="2057401"/>
            <a:ext cx="777005" cy="15242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4301" y="2057401"/>
            <a:ext cx="777005" cy="15242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6376" y="2053486"/>
            <a:ext cx="777005" cy="15242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64085" y="1771650"/>
                <a:ext cx="409023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85" y="1771650"/>
                <a:ext cx="409023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316827" y="1747450"/>
                <a:ext cx="413062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827" y="1747450"/>
                <a:ext cx="413062" cy="300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030446" y="1747450"/>
                <a:ext cx="413062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lang="en-US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446" y="1747450"/>
                <a:ext cx="413062" cy="3000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765691" y="2491086"/>
            <a:ext cx="1470352" cy="649061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358655" y="2631808"/>
                <a:ext cx="341632" cy="300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𝐵</m:t>
                      </m:r>
                    </m:oMath>
                  </m:oMathPara>
                </a14:m>
                <a:endParaRPr lang="en-US" sz="135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655" y="2631808"/>
                <a:ext cx="341632" cy="3000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0"/>
              <p:cNvSpPr txBox="1"/>
              <p:nvPr/>
            </p:nvSpPr>
            <p:spPr bwMode="auto">
              <a:xfrm>
                <a:off x="1143000" y="5294313"/>
                <a:ext cx="3735388" cy="1017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|"/>
                          <m:endChr m:val="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5294313"/>
                <a:ext cx="3735388" cy="10175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282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941C-CF49-445D-9A88-B4F290E2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70B8E-B53A-4629-B32D-43440D922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10FD6-B5F9-40D9-8A28-2EBA3240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887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59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What if we have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multiple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dirty="0"/>
                  <a:t>tests to use to decide is a person has cancer?</a:t>
                </a:r>
              </a:p>
              <a:p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Simplified assumption: attributes are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conditionally independent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en-US" dirty="0"/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1105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85900" y="2057400"/>
                <a:ext cx="6515100" cy="2841172"/>
              </a:xfrm>
              <a:blipFill>
                <a:blip r:embed="rId2"/>
                <a:stretch>
                  <a:fillRect l="-935" t="-2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2352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69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 dirty="0"/>
                  <a:t>Typically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altLang="en-US" dirty="0"/>
                  <a:t>a small number of outcomes or classes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altLang="en-US" dirty="0"/>
                  <a:t>conditional over several </a:t>
                </a:r>
                <a:r>
                  <a:rPr lang="en-US" altLang="en-US" b="1" dirty="0"/>
                  <a:t>feature variables </a:t>
                </a:r>
                <a:r>
                  <a:rPr lang="en-US" alt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altLang="en-US" dirty="0"/>
                  <a:t>)</a:t>
                </a:r>
              </a:p>
              <a:p>
                <a:pPr marL="171450" lvl="1">
                  <a:lnSpc>
                    <a:spcPct val="80000"/>
                  </a:lnSpc>
                  <a:spcBef>
                    <a:spcPts val="750"/>
                  </a:spcBef>
                </a:pPr>
                <a:r>
                  <a:rPr lang="en-US" altLang="en-US" dirty="0"/>
                  <a:t>How to choose most likely class (one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) given values of the feature variables?</a:t>
                </a:r>
              </a:p>
              <a:p>
                <a:pPr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dirty="0"/>
                  <a:t>Na</a:t>
                </a:r>
                <a:r>
                  <a:rPr lang="en-US" altLang="en-US" dirty="0">
                    <a:latin typeface="Arial" panose="020B0604020202020204" pitchFamily="34" charset="0"/>
                  </a:rPr>
                  <a:t>ï</a:t>
                </a:r>
                <a:r>
                  <a:rPr lang="en-US" altLang="en-US" dirty="0"/>
                  <a:t>ve Bayes Classifier:</a:t>
                </a:r>
              </a:p>
              <a:p>
                <a:pPr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dirty="0"/>
                  <a:t>		Class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×…×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altLang="en-US" dirty="0"/>
              </a:p>
              <a:p>
                <a:pPr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dirty="0"/>
                  <a:t>i.e., choose the class that has the highest posterior probability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en-US" dirty="0"/>
                  <a:t>Note: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dirty="0"/>
                  <a:t> is common to all probabilities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altLang="en-US" i="1" dirty="0"/>
                  <a:t>No need to evaluate the denominator for comparisons</a:t>
                </a:r>
              </a:p>
            </p:txBody>
          </p:sp>
        </mc:Choice>
        <mc:Fallback xmlns="">
          <p:sp>
            <p:nvSpPr>
              <p:cNvPr id="1146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341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Classifier: Example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828801"/>
            <a:ext cx="6172200" cy="362307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	</a:t>
            </a:r>
          </a:p>
        </p:txBody>
      </p:sp>
      <p:pic>
        <p:nvPicPr>
          <p:cNvPr id="115716" name="Picture 4" descr="tenn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514600"/>
            <a:ext cx="65151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46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025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 Example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en-US" dirty="0"/>
              <a:t>Problem: will I play tennis today given that it is:</a:t>
            </a:r>
          </a:p>
          <a:p>
            <a:pPr marL="800100" lvl="1" indent="-457200"/>
            <a:r>
              <a:rPr lang="en-US" altLang="en-US" dirty="0"/>
              <a:t>Outlook=sunny</a:t>
            </a:r>
          </a:p>
          <a:p>
            <a:pPr marL="800100" lvl="1" indent="-457200"/>
            <a:r>
              <a:rPr lang="en-US" altLang="en-US" dirty="0"/>
              <a:t>Temperature=cool</a:t>
            </a:r>
          </a:p>
          <a:p>
            <a:pPr marL="800100" lvl="1" indent="-457200"/>
            <a:r>
              <a:rPr lang="en-US" altLang="en-US" dirty="0"/>
              <a:t>Humidity=high</a:t>
            </a:r>
          </a:p>
          <a:p>
            <a:pPr marL="800100" lvl="1" indent="-457200"/>
            <a:r>
              <a:rPr lang="en-US" altLang="en-US" dirty="0"/>
              <a:t>Wind=strong</a:t>
            </a:r>
          </a:p>
          <a:p>
            <a:pPr marL="457200" indent="-457200"/>
            <a:r>
              <a:rPr lang="en-US" altLang="en-US" dirty="0"/>
              <a:t>P(</a:t>
            </a:r>
            <a:r>
              <a:rPr lang="en-US" altLang="en-US" dirty="0" err="1"/>
              <a:t>PlayTennis</a:t>
            </a:r>
            <a:r>
              <a:rPr lang="en-US" altLang="en-US" dirty="0"/>
              <a:t> | sunny, cool, high, strong)?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47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30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events?</a:t>
            </a:r>
          </a:p>
          <a:p>
            <a:pPr lvl="1"/>
            <a:r>
              <a:rPr lang="en-US" dirty="0" err="1"/>
              <a:t>PlayTennis</a:t>
            </a:r>
            <a:r>
              <a:rPr lang="en-US" dirty="0"/>
              <a:t> = yes</a:t>
            </a:r>
          </a:p>
          <a:p>
            <a:pPr lvl="1"/>
            <a:r>
              <a:rPr lang="en-US" dirty="0" err="1"/>
              <a:t>PlayTennis</a:t>
            </a:r>
            <a:r>
              <a:rPr lang="en-US" dirty="0"/>
              <a:t> = no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the features?</a:t>
            </a:r>
          </a:p>
          <a:p>
            <a:pPr lvl="1"/>
            <a:r>
              <a:rPr lang="en-US" dirty="0"/>
              <a:t>Outlook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Humidity</a:t>
            </a:r>
          </a:p>
          <a:p>
            <a:pPr lvl="1"/>
            <a:r>
              <a:rPr lang="en-US" dirty="0"/>
              <a:t>Wind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48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72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0"/>
            <a:ext cx="6172200" cy="37147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</a:t>
            </a:r>
            <a:r>
              <a:rPr lang="en-US" altLang="en-US" dirty="0" err="1"/>
              <a:t>PlayTennis</a:t>
            </a:r>
            <a:r>
              <a:rPr lang="en-US" altLang="en-US" dirty="0"/>
              <a:t>=yes) = 9/14 = 0.64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</a:t>
            </a:r>
            <a:r>
              <a:rPr lang="en-US" altLang="en-US" dirty="0" err="1"/>
              <a:t>PlayTennis</a:t>
            </a:r>
            <a:r>
              <a:rPr lang="en-US" altLang="en-US" dirty="0"/>
              <a:t>=n) = 5/14 = 0.36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P(Outlook=</a:t>
            </a:r>
            <a:r>
              <a:rPr lang="en-US" altLang="en-US" dirty="0" err="1"/>
              <a:t>sunny|PlayTennis</a:t>
            </a:r>
            <a:r>
              <a:rPr lang="en-US" altLang="en-US" dirty="0"/>
              <a:t>=yes) = 2/9 = 0.22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P(Outlook=</a:t>
            </a:r>
            <a:r>
              <a:rPr lang="en-US" altLang="en-US" dirty="0" err="1"/>
              <a:t>sunny|PlayTennis</a:t>
            </a:r>
            <a:r>
              <a:rPr lang="en-US" altLang="en-US" dirty="0"/>
              <a:t>=no) = 3/5 = 0.60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P(Temperature=</a:t>
            </a:r>
            <a:r>
              <a:rPr lang="en-US" altLang="en-US" dirty="0" err="1"/>
              <a:t>cool|PlayTennis</a:t>
            </a:r>
            <a:r>
              <a:rPr lang="en-US" altLang="en-US" dirty="0"/>
              <a:t>=yes) = 3/9 = 0.33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P(Temperature=</a:t>
            </a:r>
            <a:r>
              <a:rPr lang="en-US" altLang="en-US" dirty="0" err="1"/>
              <a:t>cool|PlayTennis</a:t>
            </a:r>
            <a:r>
              <a:rPr lang="en-US" altLang="en-US" dirty="0"/>
              <a:t>=no) = 1/5 = .20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P(Humidity=</a:t>
            </a:r>
            <a:r>
              <a:rPr lang="en-US" altLang="en-US" dirty="0" err="1"/>
              <a:t>high|PlayTennis</a:t>
            </a:r>
            <a:r>
              <a:rPr lang="en-US" altLang="en-US" dirty="0"/>
              <a:t>=yes) = 3/9 = 0.33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P(Humidity=</a:t>
            </a:r>
            <a:r>
              <a:rPr lang="en-US" altLang="en-US" dirty="0" err="1"/>
              <a:t>high|PlayTennis</a:t>
            </a:r>
            <a:r>
              <a:rPr lang="en-US" altLang="en-US" dirty="0"/>
              <a:t>=no) = 4/5 = 0.80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P(Wind=</a:t>
            </a:r>
            <a:r>
              <a:rPr lang="en-US" altLang="en-US" dirty="0" err="1"/>
              <a:t>strong|PlayTennis</a:t>
            </a:r>
            <a:r>
              <a:rPr lang="en-US" altLang="en-US" dirty="0"/>
              <a:t>=yes) = 3/9 = 0.33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P(Wind=</a:t>
            </a:r>
            <a:r>
              <a:rPr lang="en-US" altLang="en-US" dirty="0" err="1"/>
              <a:t>strong|PlayTennis</a:t>
            </a:r>
            <a:r>
              <a:rPr lang="en-US" altLang="en-US" dirty="0"/>
              <a:t>=no) = 3/5 = 0.60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49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85900" y="1580634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None/>
            </a:pPr>
            <a:r>
              <a:rPr lang="en-US" altLang="en-US" b="1" dirty="0"/>
              <a:t>Use training data to calculate the conditional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646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78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8650" y="1825625"/>
                <a:ext cx="7981950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en-US" altLang="en-US" dirty="0"/>
                  <a:t>P(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 | sunny, cool, high, strong) </a:t>
                </a:r>
                <a:r>
                  <a:rPr lang="en-US" altLang="en-US" dirty="0">
                    <a:sym typeface="Symbol" panose="05050102010706020507" pitchFamily="18" charset="2"/>
                  </a:rPr>
                  <a:t></a:t>
                </a:r>
                <a:endParaRPr lang="en-US" altLang="en-US" dirty="0"/>
              </a:p>
              <a:p>
                <a:pPr>
                  <a:buNone/>
                </a:pPr>
                <a:r>
                  <a:rPr lang="en-US" altLang="en-US" dirty="0"/>
                  <a:t>P(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sunny|</a:t>
                </a:r>
                <a:r>
                  <a:rPr lang="en-US" altLang="en-US" dirty="0" err="1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cool|</a:t>
                </a:r>
                <a:r>
                  <a:rPr lang="en-US" altLang="en-US" dirty="0" err="1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high|</a:t>
                </a:r>
                <a:r>
                  <a:rPr lang="en-US" altLang="en-US" dirty="0" err="1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strong|</a:t>
                </a:r>
                <a:r>
                  <a:rPr lang="en-US" altLang="en-US" dirty="0" err="1">
                    <a:solidFill>
                      <a:srgbClr val="00B050"/>
                    </a:solidFill>
                  </a:rPr>
                  <a:t>yes</a:t>
                </a:r>
                <a:r>
                  <a:rPr lang="en-US" altLang="en-US" dirty="0"/>
                  <a:t>) = 0.0053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dirty="0"/>
              </a:p>
              <a:p>
                <a:pPr>
                  <a:buNone/>
                </a:pPr>
                <a:r>
                  <a:rPr lang="en-US" altLang="en-US" dirty="0"/>
                  <a:t>P(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 | sunny, cool, high, strong) </a:t>
                </a:r>
                <a:r>
                  <a:rPr lang="en-US" altLang="en-US" dirty="0">
                    <a:sym typeface="Symbol" panose="05050102010706020507" pitchFamily="18" charset="2"/>
                  </a:rPr>
                  <a:t></a:t>
                </a:r>
                <a:endParaRPr lang="en-US" altLang="en-US" dirty="0"/>
              </a:p>
              <a:p>
                <a:pPr>
                  <a:buNone/>
                </a:pPr>
                <a:r>
                  <a:rPr lang="en-US" altLang="en-US" dirty="0"/>
                  <a:t>P(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sunny|</a:t>
                </a:r>
                <a:r>
                  <a:rPr lang="en-US" alt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cool|</a:t>
                </a:r>
                <a:r>
                  <a:rPr lang="en-US" alt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high|</a:t>
                </a:r>
                <a:r>
                  <a:rPr lang="en-US" alt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)</a:t>
                </a:r>
                <a:r>
                  <a:rPr lang="en-US" altLang="en-US" dirty="0" err="1"/>
                  <a:t>xP</a:t>
                </a:r>
                <a:r>
                  <a:rPr lang="en-US" altLang="en-US" dirty="0"/>
                  <a:t>(</a:t>
                </a:r>
                <a:r>
                  <a:rPr lang="en-US" altLang="en-US" dirty="0" err="1"/>
                  <a:t>strong|</a:t>
                </a:r>
                <a:r>
                  <a:rPr lang="en-US" altLang="en-US" dirty="0" err="1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) = 0.0206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dirty="0"/>
              </a:p>
              <a:p>
                <a:pPr>
                  <a:buNone/>
                </a:pPr>
                <a:r>
                  <a:rPr lang="en-US" altLang="en-US" dirty="0"/>
                  <a:t>So the class for this instance is 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NO</a:t>
                </a:r>
                <a:r>
                  <a:rPr lang="en-US" altLang="en-US" dirty="0">
                    <a:latin typeface="Arial" panose="020B0604020202020204" pitchFamily="34" charset="0"/>
                  </a:rPr>
                  <a:t>:</a:t>
                </a:r>
              </a:p>
              <a:p>
                <a:pPr>
                  <a:buNone/>
                </a:pPr>
                <a:r>
                  <a:rPr lang="en-US" altLang="en-US" dirty="0"/>
                  <a:t>We are more likely to </a:t>
                </a:r>
                <a:r>
                  <a:rPr lang="en-US" altLang="en-US" b="1" i="1" dirty="0"/>
                  <a:t>not</a:t>
                </a:r>
                <a:r>
                  <a:rPr lang="en-US" altLang="en-US" dirty="0"/>
                  <a:t> play tennis as compared to playing tennis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en-US" dirty="0"/>
                  <a:t>We can normalize the probability by: </a:t>
                </a:r>
              </a:p>
              <a:p>
                <a:pPr>
                  <a:buNone/>
                </a:pPr>
                <a:r>
                  <a:rPr lang="en-US" altLang="en-US" dirty="0"/>
                  <a:t>P(</a:t>
                </a:r>
                <a:r>
                  <a:rPr lang="en-US" altLang="en-US" dirty="0" err="1"/>
                  <a:t>PlayTennis</a:t>
                </a:r>
                <a:r>
                  <a:rPr lang="en-US" altLang="en-US" dirty="0"/>
                  <a:t>=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 | sunny, cool, high, strong)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0.0206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</a:rPr>
                          <m:t>0.0206+0.0053</m:t>
                        </m:r>
                      </m:den>
                    </m:f>
                  </m:oMath>
                </a14:m>
                <a:r>
                  <a:rPr lang="en-US" altLang="en-US" dirty="0"/>
                  <a:t>= 0.795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1187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81950" cy="4351338"/>
              </a:xfrm>
              <a:blipFill>
                <a:blip r:embed="rId2"/>
                <a:stretch>
                  <a:fillRect l="-916" t="-2381" r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664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Classwork: Naïve Bayes Classifier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Will I play tennis today given that it is:</a:t>
            </a:r>
          </a:p>
          <a:p>
            <a:pPr marL="800100" lvl="1" indent="-457200"/>
            <a:r>
              <a:rPr lang="en-US" altLang="en-US" dirty="0"/>
              <a:t>Outlook=sunny</a:t>
            </a:r>
          </a:p>
          <a:p>
            <a:pPr marL="800100" lvl="1" indent="-457200"/>
            <a:r>
              <a:rPr lang="en-US" altLang="en-US" dirty="0"/>
              <a:t>Temperature=hot</a:t>
            </a:r>
          </a:p>
          <a:p>
            <a:pPr marL="800100" lvl="1" indent="-457200"/>
            <a:r>
              <a:rPr lang="en-US" altLang="en-US" dirty="0"/>
              <a:t>Humidity=normal</a:t>
            </a:r>
          </a:p>
          <a:p>
            <a:pPr marL="800100" lvl="1" indent="-457200"/>
            <a:r>
              <a:rPr lang="en-US" altLang="en-US" dirty="0"/>
              <a:t>Wind=strong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1489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 Example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en-US" dirty="0"/>
              <a:t>Problem: will I play tennis today given that it is:</a:t>
            </a:r>
          </a:p>
          <a:p>
            <a:pPr marL="800100" lvl="1" indent="-457200"/>
            <a:r>
              <a:rPr lang="en-US" altLang="en-US" dirty="0"/>
              <a:t>Outlook=</a:t>
            </a:r>
            <a:r>
              <a:rPr lang="en-US" altLang="en-US" dirty="0">
                <a:solidFill>
                  <a:srgbClr val="FF0000"/>
                </a:solidFill>
              </a:rPr>
              <a:t>overcast</a:t>
            </a:r>
          </a:p>
          <a:p>
            <a:pPr marL="800100" lvl="1" indent="-457200"/>
            <a:r>
              <a:rPr lang="en-US" altLang="en-US" dirty="0"/>
              <a:t>Temperature=cool</a:t>
            </a:r>
          </a:p>
          <a:p>
            <a:pPr marL="800100" lvl="1" indent="-457200"/>
            <a:r>
              <a:rPr lang="en-US" altLang="en-US" dirty="0"/>
              <a:t>Humidity=high</a:t>
            </a:r>
          </a:p>
          <a:p>
            <a:pPr marL="800100" lvl="1" indent="-457200"/>
            <a:r>
              <a:rPr lang="en-US" altLang="en-US" dirty="0"/>
              <a:t>Wind=strong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8299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</a:t>
            </a:r>
            <a:r>
              <a:rPr lang="en-US" altLang="en-US" sz="1800" dirty="0" err="1"/>
              <a:t>PlayTennis</a:t>
            </a:r>
            <a:r>
              <a:rPr lang="en-US" altLang="en-US" sz="1800" dirty="0"/>
              <a:t>=yes) = 9/14 = 0.64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</a:t>
            </a:r>
            <a:r>
              <a:rPr lang="en-US" altLang="en-US" sz="1800" dirty="0" err="1"/>
              <a:t>PlayTennis</a:t>
            </a:r>
            <a:r>
              <a:rPr lang="en-US" altLang="en-US" sz="1800" dirty="0"/>
              <a:t>=no) = 5/14 = 0.36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P(Outlook=</a:t>
            </a:r>
            <a:r>
              <a:rPr lang="en-US" altLang="en-US" sz="1800" dirty="0" err="1"/>
              <a:t>overcast|PlayTennis</a:t>
            </a:r>
            <a:r>
              <a:rPr lang="en-US" altLang="en-US" sz="1800" dirty="0"/>
              <a:t>=yes) = 4/9 = 0.44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P(Outlook=</a:t>
            </a:r>
            <a:r>
              <a:rPr lang="en-US" altLang="en-US" sz="1800" dirty="0" err="1">
                <a:solidFill>
                  <a:srgbClr val="FF0000"/>
                </a:solidFill>
              </a:rPr>
              <a:t>overcast|PlayTennis</a:t>
            </a:r>
            <a:r>
              <a:rPr lang="en-US" altLang="en-US" sz="1800" dirty="0">
                <a:solidFill>
                  <a:srgbClr val="FF0000"/>
                </a:solidFill>
              </a:rPr>
              <a:t>=no) = 0/5 = 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P(Temperature=</a:t>
            </a:r>
            <a:r>
              <a:rPr lang="en-US" altLang="en-US" sz="1800" dirty="0" err="1"/>
              <a:t>cool|PlayTennis</a:t>
            </a:r>
            <a:r>
              <a:rPr lang="en-US" altLang="en-US" sz="1800" dirty="0"/>
              <a:t>=yes) = 3/9 = 0.33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P(Temperature=</a:t>
            </a:r>
            <a:r>
              <a:rPr lang="en-US" altLang="en-US" sz="1800" dirty="0" err="1"/>
              <a:t>cool|PlayTennis</a:t>
            </a:r>
            <a:r>
              <a:rPr lang="en-US" altLang="en-US" sz="1800" dirty="0"/>
              <a:t>=no) = 1/5 = .20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P(Humidity=</a:t>
            </a:r>
            <a:r>
              <a:rPr lang="en-US" altLang="en-US" sz="1800" dirty="0" err="1"/>
              <a:t>high|PlayTennis</a:t>
            </a:r>
            <a:r>
              <a:rPr lang="en-US" altLang="en-US" sz="1800" dirty="0"/>
              <a:t>=yes) = 3/9 = 0.33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P(Humidity=</a:t>
            </a:r>
            <a:r>
              <a:rPr lang="en-US" altLang="en-US" sz="1800" dirty="0" err="1"/>
              <a:t>high|PlayTennis</a:t>
            </a:r>
            <a:r>
              <a:rPr lang="en-US" altLang="en-US" sz="1800" dirty="0"/>
              <a:t>=no) = 4/5 = 0.80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P(Wind=</a:t>
            </a:r>
            <a:r>
              <a:rPr lang="en-US" altLang="en-US" sz="1800" dirty="0" err="1"/>
              <a:t>strong|PlayTennis</a:t>
            </a:r>
            <a:r>
              <a:rPr lang="en-US" altLang="en-US" sz="1800" dirty="0"/>
              <a:t>=yes) = 3/9 = 0.33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P(Wind=</a:t>
            </a:r>
            <a:r>
              <a:rPr lang="en-US" altLang="en-US" sz="1800" dirty="0" err="1"/>
              <a:t>strong|PlayTennis</a:t>
            </a:r>
            <a:r>
              <a:rPr lang="en-US" altLang="en-US" sz="1800" dirty="0"/>
              <a:t>=no) = 3/5 = 0.60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00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Estimating Probabilities: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In the previous example, P(</a:t>
            </a:r>
            <a:r>
              <a:rPr lang="en-US" altLang="en-US" dirty="0" err="1"/>
              <a:t>overcast|no</a:t>
            </a:r>
            <a:r>
              <a:rPr lang="en-US" altLang="en-US" dirty="0"/>
              <a:t>) </a:t>
            </a:r>
            <a:r>
              <a:rPr lang="en-US" altLang="en-US" dirty="0">
                <a:solidFill>
                  <a:srgbClr val="FF0000"/>
                </a:solidFill>
              </a:rPr>
              <a:t>= 0</a:t>
            </a:r>
            <a:r>
              <a:rPr lang="en-US" altLang="en-US" dirty="0"/>
              <a:t> which causes the formula-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P(no)</a:t>
            </a:r>
            <a:r>
              <a:rPr lang="en-US" altLang="en-US" dirty="0" err="1"/>
              <a:t>xP</a:t>
            </a:r>
            <a:r>
              <a:rPr lang="en-US" altLang="en-US" dirty="0"/>
              <a:t>(</a:t>
            </a:r>
            <a:r>
              <a:rPr lang="en-US" altLang="en-US" dirty="0" err="1"/>
              <a:t>overcast|no</a:t>
            </a:r>
            <a:r>
              <a:rPr lang="en-US" altLang="en-US" dirty="0"/>
              <a:t>)</a:t>
            </a:r>
            <a:r>
              <a:rPr lang="en-US" altLang="en-US" dirty="0" err="1"/>
              <a:t>xP</a:t>
            </a:r>
            <a:r>
              <a:rPr lang="en-US" altLang="en-US" dirty="0"/>
              <a:t>(</a:t>
            </a:r>
            <a:r>
              <a:rPr lang="en-US" altLang="en-US" dirty="0" err="1"/>
              <a:t>cool|no</a:t>
            </a:r>
            <a:r>
              <a:rPr lang="en-US" altLang="en-US" dirty="0"/>
              <a:t>)</a:t>
            </a:r>
            <a:r>
              <a:rPr lang="en-US" altLang="en-US" dirty="0" err="1"/>
              <a:t>xP</a:t>
            </a:r>
            <a:r>
              <a:rPr lang="en-US" altLang="en-US" dirty="0"/>
              <a:t>(</a:t>
            </a:r>
            <a:r>
              <a:rPr lang="en-US" altLang="en-US" dirty="0" err="1"/>
              <a:t>high|no</a:t>
            </a:r>
            <a:r>
              <a:rPr lang="en-US" altLang="en-US" dirty="0"/>
              <a:t>)</a:t>
            </a:r>
            <a:r>
              <a:rPr lang="en-US" altLang="en-US" dirty="0" err="1"/>
              <a:t>xP</a:t>
            </a:r>
            <a:r>
              <a:rPr lang="en-US" altLang="en-US" dirty="0"/>
              <a:t>(</a:t>
            </a:r>
            <a:r>
              <a:rPr lang="en-US" altLang="en-US" dirty="0" err="1"/>
              <a:t>strong|no</a:t>
            </a:r>
            <a:r>
              <a:rPr lang="en-US" altLang="en-US" dirty="0"/>
              <a:t>) </a:t>
            </a:r>
            <a:r>
              <a:rPr lang="en-US" altLang="en-US" dirty="0">
                <a:solidFill>
                  <a:srgbClr val="FF0000"/>
                </a:solidFill>
              </a:rPr>
              <a:t>= 0.0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This causes problems in comparing because the other probabilities  are not considered.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There are methods to avoid this.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6999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Classifier in practice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Classification is efficient</a:t>
            </a:r>
          </a:p>
          <a:p>
            <a:r>
              <a:rPr lang="en-US" altLang="en-US" dirty="0"/>
              <a:t>The conditional probability values of all the attributes with respect to the class are pre-computed and stored on disk.</a:t>
            </a:r>
          </a:p>
          <a:p>
            <a:r>
              <a:rPr lang="en-US" altLang="en-US" dirty="0"/>
              <a:t>No need to re-compute the conditional probabilities for a new problem instance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97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Application: Email spam filtering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Spam: unsolicited bulk email</a:t>
            </a:r>
          </a:p>
          <a:p>
            <a:r>
              <a:rPr lang="en-US" altLang="en-US" dirty="0"/>
              <a:t>Large fraction of all email sent</a:t>
            </a:r>
          </a:p>
          <a:p>
            <a:pPr lvl="1"/>
            <a:r>
              <a:rPr lang="en-US" altLang="en-US" dirty="0"/>
              <a:t>Estimates 64-77%</a:t>
            </a:r>
          </a:p>
          <a:p>
            <a:r>
              <a:rPr lang="en-US" altLang="en-US" dirty="0"/>
              <a:t>Spam filtering</a:t>
            </a:r>
          </a:p>
          <a:p>
            <a:pPr lvl="1"/>
            <a:r>
              <a:rPr lang="en-US" altLang="en-US" dirty="0"/>
              <a:t>Feature-based</a:t>
            </a:r>
          </a:p>
          <a:p>
            <a:pPr lvl="1"/>
            <a:r>
              <a:rPr lang="en-US" altLang="en-US" dirty="0"/>
              <a:t>Applied at receiver</a:t>
            </a:r>
          </a:p>
          <a:p>
            <a:pPr lvl="1"/>
            <a:r>
              <a:rPr lang="en-US" altLang="en-US" dirty="0"/>
              <a:t>Email client, mail server, or ISP 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56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946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57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54274" name="Picture 2" descr="http://f.tqn.com/y/jobsearch/1/S/t/L/coverletterexamp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295400"/>
            <a:ext cx="4645819" cy="393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93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58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45058" name="Picture 2" descr="http://group-mail.com/wp-content/uploads/what-is-spam-sca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81" y="1374378"/>
            <a:ext cx="5623719" cy="404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119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7350" y="3943350"/>
            <a:ext cx="5829300" cy="1714500"/>
          </a:xfrm>
        </p:spPr>
        <p:txBody>
          <a:bodyPr/>
          <a:lstStyle/>
          <a:p>
            <a:r>
              <a:rPr lang="en-US" altLang="en-US" dirty="0"/>
              <a:t>Extract features from header, content </a:t>
            </a:r>
          </a:p>
          <a:p>
            <a:r>
              <a:rPr lang="en-US" altLang="en-US" dirty="0"/>
              <a:t>Train Naïve Bayes classifier</a:t>
            </a:r>
          </a:p>
          <a:p>
            <a:r>
              <a:rPr lang="en-US" altLang="en-US" dirty="0"/>
              <a:t>Classify message:</a:t>
            </a:r>
          </a:p>
          <a:p>
            <a:pPr lvl="1"/>
            <a:r>
              <a:rPr lang="en-US" altLang="en-US" dirty="0"/>
              <a:t>Spam or not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Classification  for Spam Filtering</a:t>
            </a:r>
          </a:p>
        </p:txBody>
      </p:sp>
      <p:grpSp>
        <p:nvGrpSpPr>
          <p:cNvPr id="14346" name="Group 10"/>
          <p:cNvGrpSpPr>
            <a:grpSpLocks/>
          </p:cNvGrpSpPr>
          <p:nvPr/>
        </p:nvGrpSpPr>
        <p:grpSpPr bwMode="auto">
          <a:xfrm>
            <a:off x="2124941" y="2914650"/>
            <a:ext cx="3839766" cy="1028700"/>
            <a:chOff x="1296" y="1488"/>
            <a:chExt cx="3225" cy="864"/>
          </a:xfrm>
        </p:grpSpPr>
        <p:pic>
          <p:nvPicPr>
            <p:cNvPr id="14340" name="Picture 4" descr="E:\Lewis\records\talks\2004-0507-casa\drafts\money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1536"/>
              <a:ext cx="880" cy="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2699" y="1735"/>
              <a:ext cx="32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sz="1350" b="1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vs.</a:t>
              </a:r>
            </a:p>
          </p:txBody>
        </p:sp>
        <p:pic>
          <p:nvPicPr>
            <p:cNvPr id="14344" name="Picture 8" descr="E:\Lewis\records\talks\2004-0507-casa\drafts\document1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488"/>
              <a:ext cx="777" cy="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1714500" y="2514600"/>
            <a:ext cx="58293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57175" indent="-257175" defTabSz="685800" fontAlgn="auto">
              <a:spcBef>
                <a:spcPct val="20000"/>
              </a:spcBef>
              <a:spcAft>
                <a:spcPts val="0"/>
              </a:spcAft>
              <a:buFontTx/>
              <a:buChar char="•"/>
            </a:pPr>
            <a:r>
              <a:rPr lang="en-US" altLang="en-US">
                <a:solidFill>
                  <a:prstClr val="black"/>
                </a:solidFill>
                <a:cs typeface="+mn-cs"/>
              </a:rPr>
              <a:t>Define classes:</a:t>
            </a:r>
            <a:endParaRPr lang="en-US" altLang="en-US" sz="2100">
              <a:solidFill>
                <a:prstClr val="black"/>
              </a:solidFill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59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7580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Features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Convert message to </a:t>
            </a:r>
            <a:r>
              <a:rPr lang="en-US" altLang="en-US" b="1" i="1" dirty="0"/>
              <a:t>feature vector</a:t>
            </a:r>
          </a:p>
          <a:p>
            <a:r>
              <a:rPr lang="en-US" altLang="en-US" dirty="0"/>
              <a:t>Where do we get features?</a:t>
            </a:r>
          </a:p>
          <a:p>
            <a:pPr lvl="1"/>
            <a:r>
              <a:rPr lang="en-US" altLang="en-US" dirty="0"/>
              <a:t>From header</a:t>
            </a:r>
          </a:p>
          <a:p>
            <a:pPr lvl="2"/>
            <a:r>
              <a:rPr lang="en-US" altLang="en-US" dirty="0"/>
              <a:t>sender, recipient, routing,…</a:t>
            </a:r>
          </a:p>
          <a:p>
            <a:pPr lvl="2"/>
            <a:r>
              <a:rPr lang="en-US" altLang="en-US" dirty="0"/>
              <a:t>Possibly break up domain names</a:t>
            </a:r>
          </a:p>
          <a:p>
            <a:pPr lvl="1"/>
            <a:r>
              <a:rPr lang="en-US" altLang="en-US" dirty="0"/>
              <a:t>From content</a:t>
            </a:r>
          </a:p>
          <a:p>
            <a:pPr lvl="2"/>
            <a:r>
              <a:rPr lang="en-US" altLang="en-US" dirty="0"/>
              <a:t>Words, phrases, character strings</a:t>
            </a:r>
          </a:p>
          <a:p>
            <a:pPr lvl="2"/>
            <a:r>
              <a:rPr lang="en-US" altLang="en-US" dirty="0"/>
              <a:t>Become binary or numeric features</a:t>
            </a:r>
          </a:p>
          <a:p>
            <a:pPr lvl="1"/>
            <a:r>
              <a:rPr lang="en-US" altLang="en-US" dirty="0"/>
              <a:t>Presence/absence of URLs, HTML tags, images,…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82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Conditional probabilities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From a collection of known spam/genuine emails, calculate:</a:t>
            </a:r>
          </a:p>
          <a:p>
            <a:pPr lvl="1"/>
            <a:r>
              <a:rPr lang="en-US" altLang="en-US" dirty="0"/>
              <a:t>p(</a:t>
            </a:r>
            <a:r>
              <a:rPr lang="en-US" altLang="en-US" dirty="0" err="1"/>
              <a:t>senderName</a:t>
            </a:r>
            <a:r>
              <a:rPr lang="en-US" altLang="en-US" dirty="0"/>
              <a:t>=</a:t>
            </a:r>
            <a:r>
              <a:rPr lang="en-US" altLang="en-US" dirty="0" err="1"/>
              <a:t>A|spam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p(</a:t>
            </a:r>
            <a:r>
              <a:rPr lang="en-US" altLang="en-US" dirty="0" err="1"/>
              <a:t>senderDomainName</a:t>
            </a:r>
            <a:r>
              <a:rPr lang="en-US" altLang="en-US" dirty="0"/>
              <a:t>=</a:t>
            </a:r>
            <a:r>
              <a:rPr lang="en-US" altLang="en-US" dirty="0" err="1"/>
              <a:t>aol.com|spam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p(</a:t>
            </a:r>
            <a:r>
              <a:rPr lang="en-US" altLang="en-US" dirty="0" err="1"/>
              <a:t>usernameContainsNumbers</a:t>
            </a:r>
            <a:r>
              <a:rPr lang="en-US" altLang="en-US" dirty="0"/>
              <a:t>=</a:t>
            </a:r>
            <a:r>
              <a:rPr lang="en-US" altLang="en-US" dirty="0" err="1"/>
              <a:t>true|spam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p(</a:t>
            </a:r>
            <a:r>
              <a:rPr lang="en-US" altLang="en-US" dirty="0" err="1"/>
              <a:t>contentContainsExclamation</a:t>
            </a:r>
            <a:r>
              <a:rPr lang="en-US" altLang="en-US" dirty="0"/>
              <a:t>=true |spam)</a:t>
            </a:r>
          </a:p>
          <a:p>
            <a:pPr lvl="1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</a:t>
            </a:r>
          </a:p>
          <a:p>
            <a:r>
              <a:rPr lang="en-US" altLang="en-US" dirty="0"/>
              <a:t>Also, need to calculate prior probabilities</a:t>
            </a:r>
          </a:p>
          <a:p>
            <a:pPr lvl="1"/>
            <a:r>
              <a:rPr lang="en-US" altLang="en-US" dirty="0"/>
              <a:t>p(spam) = 0.7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1781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Classifying as spam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Given a new email message, calculate: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en-US" dirty="0" err="1"/>
              <a:t>senderDomainName</a:t>
            </a:r>
            <a:r>
              <a:rPr lang="en-US" altLang="en-US" dirty="0"/>
              <a:t>=aol.com?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en-US" dirty="0" err="1"/>
              <a:t>usernameContainsNumbers</a:t>
            </a:r>
            <a:r>
              <a:rPr lang="en-US" altLang="en-US" dirty="0"/>
              <a:t>=true?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en-US" dirty="0" err="1"/>
              <a:t>contentContainsExclamation</a:t>
            </a:r>
            <a:r>
              <a:rPr lang="en-US" altLang="en-US" dirty="0"/>
              <a:t>=true?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en-US"/>
              <a:t> …</a:t>
            </a:r>
            <a:endParaRPr lang="en-US" altLang="en-US" dirty="0"/>
          </a:p>
          <a:p>
            <a:pPr marL="685800" lvl="1" indent="-34290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r>
              <a:rPr lang="en-US" altLang="en-US" dirty="0"/>
              <a:t>The feature vector</a:t>
            </a:r>
          </a:p>
          <a:p>
            <a:r>
              <a:rPr lang="en-US" altLang="en-US" dirty="0"/>
              <a:t>Calculate</a:t>
            </a:r>
          </a:p>
          <a:p>
            <a:pPr lvl="1"/>
            <a:r>
              <a:rPr lang="en-US" altLang="en-US" dirty="0"/>
              <a:t>p(</a:t>
            </a:r>
            <a:r>
              <a:rPr lang="en-US" altLang="en-US" dirty="0" err="1"/>
              <a:t>spam|feature</a:t>
            </a:r>
            <a:r>
              <a:rPr lang="en-US" altLang="en-US" dirty="0"/>
              <a:t> vector)=p(spam)p(F1|spam)p(F2|spam)…p(</a:t>
            </a:r>
            <a:r>
              <a:rPr lang="en-US" altLang="en-US" dirty="0" err="1"/>
              <a:t>Fn|spam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p(</a:t>
            </a:r>
            <a:r>
              <a:rPr lang="en-US" altLang="en-US" dirty="0" err="1"/>
              <a:t>spam|feature</a:t>
            </a:r>
            <a:r>
              <a:rPr lang="en-US" altLang="en-US" dirty="0"/>
              <a:t> vector) &gt; p(</a:t>
            </a:r>
            <a:r>
              <a:rPr lang="en-US" altLang="en-US" dirty="0" err="1"/>
              <a:t>not_spam|feature</a:t>
            </a:r>
            <a:r>
              <a:rPr lang="en-US" altLang="en-US" dirty="0"/>
              <a:t> vector) then Spam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228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example for spam filtering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eaLnBrk="0" hangingPunct="0">
              <a:buNone/>
            </a:pPr>
            <a:r>
              <a:rPr lang="en-US" altLang="en-US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Naïve Bayes classifier is used for detecting if email is spam or not using the following three features: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1: 	Sender domain is aol.com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Values = yes, no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p(F1 = yes | email=spam) = 0.4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p(F1 = yes | email=not spam) = 0.2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2: 	Sender username contains numbers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Values = yes, no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p(F2 = yes | email=spam) = 0.8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p(F2 = yes | email=not spam) = 0.4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3: 	Subject contains exclamation points (contains “!”)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Values = yes, no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p(F3 = yes | email=spam) = 0.8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p(F3 = yes | email= not spam) = 0.1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prior probability that an email is spam is 70% (p(email=spam) = 0.70)</a:t>
            </a:r>
            <a:endParaRPr lang="en-US" altLang="en-US" sz="1400" dirty="0">
              <a:solidFill>
                <a:prstClr val="black"/>
              </a:solidFill>
            </a:endParaRPr>
          </a:p>
          <a:p>
            <a:pPr marL="0" indent="0" eaLnBrk="0" hangingPunct="0">
              <a:buNone/>
            </a:pPr>
            <a:endParaRPr lang="en-US" altLang="en-US" sz="40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3806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example for spam 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2000" y="2634914"/>
            <a:ext cx="3505200" cy="15773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lang="en-US" altLang="en-US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1: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To: apanangadan@fullerton.edu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From: george123@aol.com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Subject: Congratulations!!! you have won the state lottery!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Date: 1 Oct 2015, 23:27:09 +0000 (UTC)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+mn-cs"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353049" y="2661846"/>
            <a:ext cx="2876551" cy="15773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lang="en-US" altLang="en-US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2: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To: apanangadan@fullerton.edu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From: alan.ng@aol.com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Subject: Meeting at 2pm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Date: 12 Nov 2015, 05:23:49 +0000 (UTC)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+mn-cs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57200" y="1626979"/>
            <a:ext cx="7772400" cy="56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the following two email segments:</a:t>
            </a:r>
            <a:endParaRPr lang="en-US" altLang="en-US" sz="1050" dirty="0">
              <a:solidFill>
                <a:prstClr val="black"/>
              </a:solidFill>
              <a:cs typeface="+mn-cs"/>
            </a:endParaRPr>
          </a:p>
          <a:p>
            <a:pPr defTabSz="685800">
              <a:buFontTx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the feature vectors for the above two emails. </a:t>
            </a:r>
            <a:endParaRPr lang="en-US" altLang="en-US" sz="2800" dirty="0">
              <a:solidFill>
                <a:prstClr val="black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762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example for spam filtering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28650" y="4543427"/>
          <a:ext cx="7886702" cy="123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0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Feature 1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Feature 2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Feature 3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Email 1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yes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yes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yes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Email 2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098" marR="9109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2000" y="2634914"/>
            <a:ext cx="3505200" cy="15773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lang="en-US" altLang="en-US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1: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To: apanangadan@fullerton.edu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From: george123@aol.com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Subject: Congratulations!!! you have won the state lottery!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Date: 1 Oct 2015, 23:27:09 +0000 (UTC)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+mn-cs"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353049" y="2661846"/>
            <a:ext cx="2876551" cy="15773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lang="en-US" altLang="en-US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2: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To: apanangadan@fullerton.edu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From: alan.ng@aol.com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Subject: Meeting at 2pm</a:t>
            </a:r>
            <a:endParaRPr lang="en-US" altLang="en-US" sz="1000" dirty="0">
              <a:solidFill>
                <a:prstClr val="black"/>
              </a:solidFill>
              <a:latin typeface="Calibri" panose="020F0502020204030204"/>
              <a:cs typeface="+mn-cs"/>
            </a:endParaRPr>
          </a:p>
          <a:p>
            <a:pPr defTabSz="685800" eaLnBrk="0" hangingPunct="0"/>
            <a:r>
              <a:rPr lang="en-US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Date: 12 Nov 2015, 05:23:49 +0000 (UTC)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+mn-cs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57200" y="1626979"/>
            <a:ext cx="7772400" cy="56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/>
            <a:r>
              <a:rPr lang="en-US" alt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the following two email segments:</a:t>
            </a:r>
            <a:endParaRPr lang="en-US" altLang="en-US" sz="1050" dirty="0">
              <a:solidFill>
                <a:prstClr val="black"/>
              </a:solidFill>
              <a:cs typeface="+mn-cs"/>
            </a:endParaRPr>
          </a:p>
          <a:p>
            <a:pPr defTabSz="685800">
              <a:buFontTx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the feature vectors for the above two emails. </a:t>
            </a:r>
            <a:endParaRPr lang="en-US" altLang="en-US" sz="2800" dirty="0">
              <a:solidFill>
                <a:prstClr val="black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924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Spam</a:t>
            </a:r>
          </a:p>
          <a:p>
            <a:pPr lvl="1"/>
            <a:r>
              <a:rPr lang="en-US" dirty="0"/>
              <a:t>P(spam)*p(+f1|spam)*p(+f2|spam)*p(+f3|spam)</a:t>
            </a:r>
          </a:p>
          <a:p>
            <a:pPr lvl="1"/>
            <a:r>
              <a:rPr lang="en-US" dirty="0"/>
              <a:t>=0.7 * 0.4 * 0.8 * 0.8 = 0.1792</a:t>
            </a:r>
          </a:p>
          <a:p>
            <a:endParaRPr lang="en-US" dirty="0"/>
          </a:p>
          <a:p>
            <a:r>
              <a:rPr lang="en-US" dirty="0"/>
              <a:t>Not Spam</a:t>
            </a:r>
          </a:p>
          <a:p>
            <a:pPr lvl="1"/>
            <a:r>
              <a:rPr lang="en-US" dirty="0"/>
              <a:t>P(-spam)*p(+f1|-spam)*p(+f2|-spam)*p(+f3|-spam)</a:t>
            </a:r>
          </a:p>
          <a:p>
            <a:pPr lvl="1"/>
            <a:r>
              <a:rPr lang="en-US" dirty="0"/>
              <a:t>=(1-0.7) * 0.2 * 0.4 * 0.1 = 0.0024</a:t>
            </a:r>
          </a:p>
          <a:p>
            <a:pPr lvl="1"/>
            <a:endParaRPr lang="en-US" dirty="0"/>
          </a:p>
          <a:p>
            <a:r>
              <a:rPr lang="en-US" dirty="0"/>
              <a:t>Spam</a:t>
            </a:r>
          </a:p>
          <a:p>
            <a:r>
              <a:rPr lang="en-US" dirty="0"/>
              <a:t>P(Spam|+f1,+f2,+f3) = 0.1792/(0.1792+0.0024) = 0.986 = 98.6%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FC74C-1AAD-4A23-8CBA-CF1A3849B79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4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Naïve Bayes advantages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Independence allows parameters to be estimated on different data sets, e.g. </a:t>
            </a:r>
          </a:p>
          <a:p>
            <a:pPr lvl="1"/>
            <a:r>
              <a:rPr lang="en-US" altLang="en-US"/>
              <a:t>Estimate content features from messages with headers omitted</a:t>
            </a:r>
          </a:p>
          <a:p>
            <a:pPr lvl="1"/>
            <a:r>
              <a:rPr lang="en-US" altLang="en-US"/>
              <a:t>Estimate header features from messages with content missing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67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577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E:\Lewis\records\talks\2004-0507-casa\spamnoheader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78907"/>
            <a:ext cx="4043363" cy="240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783556" y="1885951"/>
            <a:ext cx="451485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</a:rPr>
              <a:t>From: Sam Elegy &lt;</a:t>
            </a: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  <a:hlinkClick r:id="rId3"/>
              </a:rPr>
              <a:t>aj6xfdou7@yahoo.com</a:t>
            </a: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</a:rPr>
              <a:t>&gt;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</a:rPr>
              <a:t>To: </a:t>
            </a: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  <a:hlinkClick r:id="rId4"/>
              </a:rPr>
              <a:t>ddlewis4@att.net</a:t>
            </a:r>
            <a:endParaRPr lang="en-US" altLang="en-US" sz="1500">
              <a:solidFill>
                <a:prstClr val="black"/>
              </a:solidFill>
              <a:latin typeface="HE_TERMINAL" pitchFamily="49" charset="0"/>
              <a:cs typeface="+mn-cs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500">
                <a:solidFill>
                  <a:prstClr val="black"/>
                </a:solidFill>
                <a:latin typeface="HE_TERMINAL" pitchFamily="49" charset="0"/>
                <a:cs typeface="+mn-cs"/>
              </a:rPr>
              <a:t>Subject: you can buy V!@gra  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6629400" y="3600451"/>
            <a:ext cx="1200150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350">
                <a:solidFill>
                  <a:prstClr val="black"/>
                </a:solidFill>
                <a:latin typeface="Calibri" panose="020F0502020204030204"/>
                <a:cs typeface="+mn-cs"/>
              </a:rPr>
              <a:t>Spamlike content in image form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5429250" y="5143501"/>
            <a:ext cx="24003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  <a:cs typeface="+mn-cs"/>
              </a:rPr>
              <a:t>Irrelevant content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6410326" y="2343151"/>
            <a:ext cx="1080552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350">
                <a:solidFill>
                  <a:prstClr val="black"/>
                </a:solidFill>
                <a:latin typeface="Calibri" panose="020F0502020204030204"/>
                <a:cs typeface="+mn-cs"/>
              </a:rPr>
              <a:t> Typographic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350">
                <a:solidFill>
                  <a:prstClr val="black"/>
                </a:solidFill>
                <a:latin typeface="Calibri" panose="020F0502020204030204"/>
                <a:cs typeface="+mn-cs"/>
              </a:rPr>
              <a:t> variations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3771901" y="1200150"/>
            <a:ext cx="281801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350">
                <a:solidFill>
                  <a:prstClr val="black"/>
                </a:solidFill>
                <a:latin typeface="Calibri" panose="020F0502020204030204"/>
                <a:cs typeface="+mn-cs"/>
              </a:rPr>
              <a:t>Randomly generated name and email</a:t>
            </a:r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 flipH="1">
            <a:off x="3486150" y="1485900"/>
            <a:ext cx="2971800" cy="40005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H="1" flipV="1">
            <a:off x="5029200" y="2514600"/>
            <a:ext cx="142875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 flipH="1" flipV="1">
            <a:off x="6000750" y="3943350"/>
            <a:ext cx="571500" cy="1143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H="1" flipV="1">
            <a:off x="4286250" y="5086350"/>
            <a:ext cx="1143000" cy="3429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0993" name="Line 33"/>
          <p:cNvSpPr>
            <a:spLocks noChangeShapeType="1"/>
          </p:cNvSpPr>
          <p:nvPr/>
        </p:nvSpPr>
        <p:spPr bwMode="auto">
          <a:xfrm flipH="1">
            <a:off x="5314950" y="1543050"/>
            <a:ext cx="1085850" cy="3429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68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5183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Defeating Feature Extraction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Misspellings, character set choice, HTML games: mislead extraction of words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Put content in images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Forge headers (to avoid identification, but also interferes with classification)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Non-spam content to mimic distribution in </a:t>
            </a:r>
            <a:r>
              <a:rPr lang="en-US" altLang="en-US" dirty="0" err="1"/>
              <a:t>nonspam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“</a:t>
            </a:r>
            <a:r>
              <a:rPr lang="en-US" altLang="en-US" dirty="0" err="1"/>
              <a:t>Hashbusters</a:t>
            </a:r>
            <a:r>
              <a:rPr lang="en-US" altLang="en-US" dirty="0"/>
              <a:t>”</a:t>
            </a:r>
          </a:p>
          <a:p>
            <a:pPr lvl="1"/>
            <a:r>
              <a:rPr lang="en-US" altLang="en-US" dirty="0"/>
              <a:t>Try to defeat Bayesian spam filtering by making each individual spam look as different as possible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A78FC74C-1AAD-4A23-8CBA-CF1A3849B798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69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1359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543800" cy="884238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9724"/>
          </a:xfrm>
        </p:spPr>
        <p:txBody>
          <a:bodyPr/>
          <a:lstStyle/>
          <a:p>
            <a:r>
              <a:rPr lang="en-US" sz="2000" dirty="0"/>
              <a:t>Russel and Norvig, Artificial Intelligence: A Modern Approach, 4</a:t>
            </a:r>
            <a:r>
              <a:rPr lang="en-US" sz="2000" baseline="30000" dirty="0"/>
              <a:t>th</a:t>
            </a:r>
            <a:r>
              <a:rPr lang="en-US" sz="2000" dirty="0"/>
              <a:t> edition</a:t>
            </a:r>
            <a:r>
              <a:rPr lang="en-US" sz="2000"/>
              <a:t>, Pearson, </a:t>
            </a:r>
            <a:r>
              <a:rPr lang="en-US" sz="2000" dirty="0"/>
              <a:t>2020. </a:t>
            </a:r>
            <a:r>
              <a:rPr lang="en-US" sz="2000" b="1" dirty="0"/>
              <a:t>Chapter 12-12.6</a:t>
            </a:r>
          </a:p>
          <a:p>
            <a:r>
              <a:rPr lang="en-US" sz="2000" dirty="0"/>
              <a:t>George F. Luger, Artificial Intelligence: Structures and Strategies for Complex Problem Solving, 6</a:t>
            </a:r>
            <a:r>
              <a:rPr lang="en-US" sz="2000" baseline="30000" dirty="0"/>
              <a:t>th</a:t>
            </a:r>
            <a:r>
              <a:rPr lang="en-US" sz="2000" dirty="0"/>
              <a:t> edition, Addison Wesley, 2009. </a:t>
            </a:r>
            <a:r>
              <a:rPr lang="en-US" sz="2000" b="1" dirty="0"/>
              <a:t>Chapters 4.1.1, 12.1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816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ain) = 0.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1"/>
  <p:tag name="PICTUREFILESIZE" val="82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forall x \ \, P(X=x) \ge 0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3"/>
  <p:tag name="PICTUREFILESIZE" val="84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sum_x P(X=x) = 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7"/>
  <p:tag name="PICTUREFILESIZE" val="88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{X_1, X_2, \ldots X_n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31"/>
  <p:tag name="PICTUREFILESIZE" val="625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X_1=x_1, X_2=x_2, \ldots X_n=x_n)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26"/>
  <p:tag name="PICTUREFILESIZE" val="1302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P(x_1, x_2, \ldots x_n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49"/>
  <p:tag name="PICTUREFILESIZE" val="69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x_1, x_2, \ldots x_n) \ge 0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874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sum_{(x_1, x_2, \ldots x_n)} P(x_1, x_2, \ldots x_n)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2"/>
  <p:tag name="PICTUREFILESIZE" val="161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E) = \sum_{(x_1 \ldots x_n) \in E}P(x_1 \ldots x_n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1"/>
  <p:tag name="PICTUREFILESIZE" val="162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a | b) = \frac{P(a, b)}{P(b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59"/>
  <p:tag name="PICTUREFILESIZE" val="1248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s | T=c) = ???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9"/>
  <p:tag name="PICTUREFILESIZE" val="874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T=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1179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2}{0.5} 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6"/>
  <p:tag name="PICTUREFILESIZE" val="365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4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5"/>
  <p:tag name="PICTUREFILESIZE" val="169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P(W = s ,T = c) + P(W = r,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78"/>
  <p:tag name="PICTUREFILESIZE" val="1365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2 + 0.3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4"/>
  <p:tag name="PICTUREFILESIZE" val="43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5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4"/>
  <p:tag name="PICTUREFILESIZE" val="18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 | T=c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4"/>
  <p:tag name="PICTUREFILESIZE" val="708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W = s, T=c) + P(W = r,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27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1162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3}{0.2 + 0.3} = 0.6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66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&#10;\documentclass{slides}\pagestyle{empty}&#10;&#10;\begin{document}&#10;\[&#10;P(W=s | T= c ) = 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4"/>
  <p:tag name="PICTUREFILESIZE" val="722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W = s, T=c) + P(W = r, 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44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1179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2}{0.2 + 0.3} = 0.4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15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 |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569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 |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569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c, 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5"/>
  <p:tag name="PICTUREFILESIZE" val="453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1 | x_2) = \frac{P(x_1, x_2)}{P(x_2)} = \frac{P(x_1, x_2)}{\sum_{x_1} P(x_1, x_2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74"/>
  <p:tag name="PICTUREFILESIZE" val="2950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2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2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, y) = P(x | y) P(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8"/>
  <p:tag name="PICTUREFILESIZE" val="1045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 | y) = \frac{P(y | x)}{P(y)} P(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7"/>
  <p:tag name="PICTUREFILESIZE" val="1633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= P(y | x) P(x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35"/>
  <p:tag name="PICTUREFILESIZE" val="6940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5240</Words>
  <Application>Microsoft Office PowerPoint</Application>
  <PresentationFormat>On-screen Show (4:3)</PresentationFormat>
  <Paragraphs>1145</Paragraphs>
  <Slides>70</Slides>
  <Notes>19</Notes>
  <HiddenSlides>10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4" baseType="lpstr">
      <vt:lpstr>Arial</vt:lpstr>
      <vt:lpstr>Calibri</vt:lpstr>
      <vt:lpstr>Calibri Light</vt:lpstr>
      <vt:lpstr>Cambria Math</vt:lpstr>
      <vt:lpstr>Courier New</vt:lpstr>
      <vt:lpstr>HE_TERMINAL</vt:lpstr>
      <vt:lpstr>Symbol</vt:lpstr>
      <vt:lpstr>Times New Roman</vt:lpstr>
      <vt:lpstr>Wingdings</vt:lpstr>
      <vt:lpstr>1_Office Theme</vt:lpstr>
      <vt:lpstr>Office Theme</vt:lpstr>
      <vt:lpstr>Default Design</vt:lpstr>
      <vt:lpstr>Network</vt:lpstr>
      <vt:lpstr>Photo Editor Photo</vt:lpstr>
      <vt:lpstr>CPSC 481 Artificial Intelligence</vt:lpstr>
      <vt:lpstr>What we will cover today</vt:lpstr>
      <vt:lpstr>Applications with uncertainty</vt:lpstr>
      <vt:lpstr>Uncertainty</vt:lpstr>
      <vt:lpstr>Random Variables</vt:lpstr>
      <vt:lpstr>Probability Distributions</vt:lpstr>
      <vt:lpstr>Joint Distributions</vt:lpstr>
      <vt:lpstr>Events and Sample Space</vt:lpstr>
      <vt:lpstr>Class work</vt:lpstr>
      <vt:lpstr>Marginal Distributions</vt:lpstr>
      <vt:lpstr>Class work</vt:lpstr>
      <vt:lpstr>Conditional Probability</vt:lpstr>
      <vt:lpstr>Conditional Probability Example</vt:lpstr>
      <vt:lpstr>Conditional Probability Applications</vt:lpstr>
      <vt:lpstr>Conditional Probabilities</vt:lpstr>
      <vt:lpstr>Normalization Trick</vt:lpstr>
      <vt:lpstr>Normalization Trick</vt:lpstr>
      <vt:lpstr>Student Participation: Normalization Trick</vt:lpstr>
      <vt:lpstr>Student Participation: Normalization Trick</vt:lpstr>
      <vt:lpstr>Class work</vt:lpstr>
      <vt:lpstr>Exercise Questions for Probability</vt:lpstr>
      <vt:lpstr>Exercise Questions for Probability</vt:lpstr>
      <vt:lpstr>Bayes Rule</vt:lpstr>
      <vt:lpstr>Calculating conditional probabilities</vt:lpstr>
      <vt:lpstr>Calculating conditional probabilities</vt:lpstr>
      <vt:lpstr>Bayes’ Rule</vt:lpstr>
      <vt:lpstr>PowerPoint Presentation</vt:lpstr>
      <vt:lpstr>Inference with Bayes’ Rule</vt:lpstr>
      <vt:lpstr>Example Application of Bayes’ Theorem</vt:lpstr>
      <vt:lpstr>PowerPoint Presentation</vt:lpstr>
      <vt:lpstr>Quality levels differ between suppliers</vt:lpstr>
      <vt:lpstr>2-Supplier Problem</vt:lpstr>
      <vt:lpstr>2-Supplier Problem</vt:lpstr>
      <vt:lpstr>How do we get p(Q=bad)?</vt:lpstr>
      <vt:lpstr>Classwork: Numerical Example: “Cancer”</vt:lpstr>
      <vt:lpstr>Numerical Example</vt:lpstr>
      <vt:lpstr>Numerical Example</vt:lpstr>
      <vt:lpstr>Tabular Approach to Bayes’ Theorem— Cancer</vt:lpstr>
      <vt:lpstr>Tabular Approach to Bayes’ Theorem— Cancer</vt:lpstr>
      <vt:lpstr>Tabular Approach to Bayes’ Theorem— Cancer</vt:lpstr>
      <vt:lpstr>Tabular Approach to Bayes’ Theorem— Cancer</vt:lpstr>
      <vt:lpstr>Law of Total Probability</vt:lpstr>
      <vt:lpstr>Naïve bayes classifier</vt:lpstr>
      <vt:lpstr>Naïve Bayes Classifier</vt:lpstr>
      <vt:lpstr>Naïve Bayes Classifier</vt:lpstr>
      <vt:lpstr>Naïve Bayes Classifier: Example</vt:lpstr>
      <vt:lpstr>Naïve Bayes Classifier Example</vt:lpstr>
      <vt:lpstr>Naïve Bayes Classifier Example</vt:lpstr>
      <vt:lpstr>Naïve Bayes Classifier</vt:lpstr>
      <vt:lpstr>Naïve Bayes Classifier</vt:lpstr>
      <vt:lpstr>Classwork: Naïve Bayes Classifier</vt:lpstr>
      <vt:lpstr>Naïve Bayes Classifier Example</vt:lpstr>
      <vt:lpstr>Naïve Bayes Classifier</vt:lpstr>
      <vt:lpstr>Naïve Bayes Classifier</vt:lpstr>
      <vt:lpstr>Naïve Bayes Classifier in practice</vt:lpstr>
      <vt:lpstr>Application: Email spam filtering</vt:lpstr>
      <vt:lpstr>PowerPoint Presentation</vt:lpstr>
      <vt:lpstr>PowerPoint Presentation</vt:lpstr>
      <vt:lpstr>Classification  for Spam Filtering</vt:lpstr>
      <vt:lpstr>Features</vt:lpstr>
      <vt:lpstr>Conditional probabilities</vt:lpstr>
      <vt:lpstr>Classifying as spam</vt:lpstr>
      <vt:lpstr>Numerical example for spam filtering</vt:lpstr>
      <vt:lpstr>Numerical example for spam filtering</vt:lpstr>
      <vt:lpstr>Numerical example for spam filtering</vt:lpstr>
      <vt:lpstr>Email 1</vt:lpstr>
      <vt:lpstr>Naïve Bayes advantages</vt:lpstr>
      <vt:lpstr>PowerPoint Presentation</vt:lpstr>
      <vt:lpstr>Defeating Feature Extraction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1</cp:revision>
  <dcterms:created xsi:type="dcterms:W3CDTF">2012-09-13T21:52:26Z</dcterms:created>
  <dcterms:modified xsi:type="dcterms:W3CDTF">2025-10-09T21:08:06Z</dcterms:modified>
</cp:coreProperties>
</file>